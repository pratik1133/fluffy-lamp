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13" name="Shape 13"/>
        <p:cNvGrpSpPr/>
        <p:nvPr/>
      </p:nvGrpSpPr>
      <p:grpSpPr>
        <a:xfrm>
          <a:off x="0" y="0"/>
          <a:ext cx="0" cy="0"/>
          <a:chOff x="0" y="0"/>
          <a:chExt cx="0" cy="0"/>
        </a:xfrm>
      </p:grpSpPr>
      <p:sp>
        <p:nvSpPr>
          <p:cNvPr id="14" name="Google Shape;14;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5" name="Google Shape;15;p3"/>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9pPr>
          </a:lstStyle>
          <a:p/>
        </p:txBody>
      </p:sp>
      <p:cxnSp>
        <p:nvCxnSpPr>
          <p:cNvPr id="16" name="Google Shape;16;p3"/>
          <p:cNvCxnSpPr/>
          <p:nvPr/>
        </p:nvCxnSpPr>
        <p:spPr>
          <a:xfrm>
            <a:off x="4563000" y="591725"/>
            <a:ext cx="27000" cy="4179000"/>
          </a:xfrm>
          <a:prstGeom prst="straightConnector1">
            <a:avLst/>
          </a:prstGeom>
          <a:noFill/>
          <a:ln cap="flat" cmpd="sng" w="9525">
            <a:solidFill>
              <a:srgbClr val="FFA500"/>
            </a:solidFill>
            <a:prstDash val="solid"/>
            <a:round/>
            <a:headEnd len="sm" w="sm" type="none"/>
            <a:tailEnd len="sm" w="sm" type="none"/>
          </a:ln>
        </p:spPr>
      </p:cxnSp>
      <p:sp>
        <p:nvSpPr>
          <p:cNvPr id="17" name="Google Shape;17;p3"/>
          <p:cNvSpPr txBox="1"/>
          <p:nvPr>
            <p:ph idx="2" type="title"/>
          </p:nvPr>
        </p:nvSpPr>
        <p:spPr>
          <a:xfrm>
            <a:off x="55450" y="591725"/>
            <a:ext cx="4454100" cy="4179000"/>
          </a:xfrm>
          <a:prstGeom prst="rect">
            <a:avLst/>
          </a:prstGeom>
          <a:solidFill>
            <a:srgbClr val="FFE5B4"/>
          </a:solid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1800"/>
              <a:buFont typeface="Calibri"/>
              <a:buNone/>
              <a:defRPr sz="1800">
                <a:latin typeface="Calibri"/>
                <a:ea typeface="Calibri"/>
                <a:cs typeface="Calibri"/>
                <a:sym typeface="Calibri"/>
              </a:defRPr>
            </a:lvl1pPr>
            <a:lvl2pPr lvl="1" algn="l">
              <a:lnSpc>
                <a:spcPct val="100000"/>
              </a:lnSpc>
              <a:spcBef>
                <a:spcPts val="0"/>
              </a:spcBef>
              <a:spcAft>
                <a:spcPts val="0"/>
              </a:spcAft>
              <a:buSzPts val="1800"/>
              <a:buFont typeface="Calibri"/>
              <a:buNone/>
              <a:defRPr sz="1800">
                <a:latin typeface="Calibri"/>
                <a:ea typeface="Calibri"/>
                <a:cs typeface="Calibri"/>
                <a:sym typeface="Calibri"/>
              </a:defRPr>
            </a:lvl2pPr>
            <a:lvl3pPr lvl="2" algn="l">
              <a:lnSpc>
                <a:spcPct val="100000"/>
              </a:lnSpc>
              <a:spcBef>
                <a:spcPts val="0"/>
              </a:spcBef>
              <a:spcAft>
                <a:spcPts val="0"/>
              </a:spcAft>
              <a:buSzPts val="1800"/>
              <a:buFont typeface="Calibri"/>
              <a:buNone/>
              <a:defRPr sz="1800">
                <a:latin typeface="Calibri"/>
                <a:ea typeface="Calibri"/>
                <a:cs typeface="Calibri"/>
                <a:sym typeface="Calibri"/>
              </a:defRPr>
            </a:lvl3pPr>
            <a:lvl4pPr lvl="3" algn="l">
              <a:lnSpc>
                <a:spcPct val="100000"/>
              </a:lnSpc>
              <a:spcBef>
                <a:spcPts val="0"/>
              </a:spcBef>
              <a:spcAft>
                <a:spcPts val="0"/>
              </a:spcAft>
              <a:buSzPts val="1800"/>
              <a:buFont typeface="Calibri"/>
              <a:buNone/>
              <a:defRPr sz="1800">
                <a:latin typeface="Calibri"/>
                <a:ea typeface="Calibri"/>
                <a:cs typeface="Calibri"/>
                <a:sym typeface="Calibri"/>
              </a:defRPr>
            </a:lvl4pPr>
            <a:lvl5pPr lvl="4" algn="l">
              <a:lnSpc>
                <a:spcPct val="100000"/>
              </a:lnSpc>
              <a:spcBef>
                <a:spcPts val="0"/>
              </a:spcBef>
              <a:spcAft>
                <a:spcPts val="0"/>
              </a:spcAft>
              <a:buSzPts val="1800"/>
              <a:buFont typeface="Calibri"/>
              <a:buNone/>
              <a:defRPr sz="1800">
                <a:latin typeface="Calibri"/>
                <a:ea typeface="Calibri"/>
                <a:cs typeface="Calibri"/>
                <a:sym typeface="Calibri"/>
              </a:defRPr>
            </a:lvl5pPr>
            <a:lvl6pPr lvl="5" algn="l">
              <a:lnSpc>
                <a:spcPct val="100000"/>
              </a:lnSpc>
              <a:spcBef>
                <a:spcPts val="0"/>
              </a:spcBef>
              <a:spcAft>
                <a:spcPts val="0"/>
              </a:spcAft>
              <a:buSzPts val="1800"/>
              <a:buFont typeface="Calibri"/>
              <a:buNone/>
              <a:defRPr sz="1800">
                <a:latin typeface="Calibri"/>
                <a:ea typeface="Calibri"/>
                <a:cs typeface="Calibri"/>
                <a:sym typeface="Calibri"/>
              </a:defRPr>
            </a:lvl6pPr>
            <a:lvl7pPr lvl="6" algn="l">
              <a:lnSpc>
                <a:spcPct val="100000"/>
              </a:lnSpc>
              <a:spcBef>
                <a:spcPts val="0"/>
              </a:spcBef>
              <a:spcAft>
                <a:spcPts val="0"/>
              </a:spcAft>
              <a:buSzPts val="1800"/>
              <a:buFont typeface="Calibri"/>
              <a:buNone/>
              <a:defRPr sz="1800">
                <a:latin typeface="Calibri"/>
                <a:ea typeface="Calibri"/>
                <a:cs typeface="Calibri"/>
                <a:sym typeface="Calibri"/>
              </a:defRPr>
            </a:lvl7pPr>
            <a:lvl8pPr lvl="7" algn="l">
              <a:lnSpc>
                <a:spcPct val="100000"/>
              </a:lnSpc>
              <a:spcBef>
                <a:spcPts val="0"/>
              </a:spcBef>
              <a:spcAft>
                <a:spcPts val="0"/>
              </a:spcAft>
              <a:buSzPts val="1800"/>
              <a:buFont typeface="Calibri"/>
              <a:buNone/>
              <a:defRPr sz="1800">
                <a:latin typeface="Calibri"/>
                <a:ea typeface="Calibri"/>
                <a:cs typeface="Calibri"/>
                <a:sym typeface="Calibri"/>
              </a:defRPr>
            </a:lvl8pPr>
            <a:lvl9pPr lvl="8" algn="l">
              <a:lnSpc>
                <a:spcPct val="100000"/>
              </a:lnSpc>
              <a:spcBef>
                <a:spcPts val="0"/>
              </a:spcBef>
              <a:spcAft>
                <a:spcPts val="0"/>
              </a:spcAft>
              <a:buSzPts val="1800"/>
              <a:buFont typeface="Calibri"/>
              <a:buNone/>
              <a:defRPr sz="1800">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20" name="Google Shape;20;p4"/>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23" name="Google Shape;23;p5"/>
          <p:cNvSpPr txBox="1"/>
          <p:nvPr>
            <p:ph type="title"/>
          </p:nvPr>
        </p:nvSpPr>
        <p:spPr>
          <a:xfrm>
            <a:off x="4662275" y="0"/>
            <a:ext cx="4481700" cy="575700"/>
          </a:xfrm>
          <a:prstGeom prst="rect">
            <a:avLst/>
          </a:prstGeom>
          <a:solidFill>
            <a:srgbClr val="1F4690"/>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9pPr>
          </a:lstStyle>
          <a:p/>
        </p:txBody>
      </p:sp>
      <p:sp>
        <p:nvSpPr>
          <p:cNvPr id="24" name="Google Shape;24;p5"/>
          <p:cNvSpPr txBox="1"/>
          <p:nvPr>
            <p:ph idx="2" type="title"/>
          </p:nvPr>
        </p:nvSpPr>
        <p:spPr>
          <a:xfrm>
            <a:off x="0" y="0"/>
            <a:ext cx="4428300" cy="575700"/>
          </a:xfrm>
          <a:prstGeom prst="rect">
            <a:avLst/>
          </a:prstGeom>
          <a:solidFill>
            <a:srgbClr val="1F4690"/>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9pPr>
          </a:lstStyle>
          <a:p/>
        </p:txBody>
      </p:sp>
      <p:cxnSp>
        <p:nvCxnSpPr>
          <p:cNvPr id="25" name="Google Shape;25;p5"/>
          <p:cNvCxnSpPr/>
          <p:nvPr/>
        </p:nvCxnSpPr>
        <p:spPr>
          <a:xfrm>
            <a:off x="4533925" y="94425"/>
            <a:ext cx="24000" cy="4852500"/>
          </a:xfrm>
          <a:prstGeom prst="straightConnector1">
            <a:avLst/>
          </a:prstGeom>
          <a:noFill/>
          <a:ln cap="flat" cmpd="sng" w="9525">
            <a:solidFill>
              <a:srgbClr val="FFA500"/>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0" name="Google Shape;30;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theme" Target="../theme/theme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p1"/>
          <p:cNvPicPr preferRelativeResize="0"/>
          <p:nvPr/>
        </p:nvPicPr>
        <p:blipFill rotWithShape="1">
          <a:blip r:embed="rId1">
            <a:alphaModFix/>
          </a:blip>
          <a:srcRect b="0" l="0" r="0" t="0"/>
          <a:stretch/>
        </p:blipFill>
        <p:spPr>
          <a:xfrm>
            <a:off x="0" y="4865050"/>
            <a:ext cx="1120900" cy="278450"/>
          </a:xfrm>
          <a:prstGeom prst="rect">
            <a:avLst/>
          </a:prstGeom>
          <a:noFill/>
          <a:ln cap="flat" cmpd="sng" w="9525">
            <a:solidFill>
              <a:srgbClr val="1F4690"/>
            </a:solidFill>
            <a:prstDash val="solid"/>
            <a:round/>
            <a:headEnd len="sm" w="sm" type="none"/>
            <a:tailEnd len="sm" w="sm" type="none"/>
          </a:ln>
        </p:spPr>
      </p:pic>
      <p:sp>
        <p:nvSpPr>
          <p:cNvPr id="10" name="Google Shape;10;p1"/>
          <p:cNvSpPr/>
          <p:nvPr/>
        </p:nvSpPr>
        <p:spPr>
          <a:xfrm>
            <a:off x="1448233" y="2065194"/>
            <a:ext cx="6247534" cy="1374198"/>
          </a:xfrm>
          <a:prstGeom prst="rect">
            <a:avLst/>
          </a:prstGeom>
          <a:blipFill rotWithShape="1">
            <a:blip r:embed="rId2">
              <a:alphaModFix amt="20000"/>
            </a:blip>
            <a:stretch>
              <a:fillRect b="0" l="0" r="0" t="0"/>
            </a:stretch>
          </a:blip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2"/>
          <p:cNvSpPr txBox="1"/>
          <p:nvPr>
            <p:ph idx="4294967295" type="ctrTitle"/>
          </p:nvPr>
        </p:nvSpPr>
        <p:spPr>
          <a:xfrm>
            <a:off x="311700" y="139700"/>
            <a:ext cx="8520600" cy="2052600"/>
          </a:xfrm>
          <a:prstGeom prst="rect">
            <a:avLst/>
          </a:prstGeom>
          <a:solidFill>
            <a:srgbClr val="1F4690"/>
          </a:solid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chemeClr val="dk1"/>
              </a:buClr>
              <a:buSzPts val="2800"/>
              <a:buFont typeface="Arial"/>
              <a:buNone/>
            </a:pPr>
            <a:r>
              <a:rPr b="1" i="0" lang="en-GB" sz="3500" u="none" cap="none" strike="noStrike">
                <a:solidFill>
                  <a:schemeClr val="lt1"/>
                </a:solidFill>
                <a:latin typeface="Calibri"/>
                <a:ea typeface="Calibri"/>
                <a:cs typeface="Calibri"/>
                <a:sym typeface="Calibri"/>
              </a:rPr>
              <a:t>{{company_name}}</a:t>
            </a:r>
            <a:endParaRPr b="1" i="0" sz="3500" u="none" cap="none" strike="noStrike">
              <a:solidFill>
                <a:schemeClr val="lt1"/>
              </a:solidFill>
              <a:latin typeface="Calibri"/>
              <a:ea typeface="Calibri"/>
              <a:cs typeface="Calibri"/>
              <a:sym typeface="Calibri"/>
            </a:endParaRPr>
          </a:p>
        </p:txBody>
      </p:sp>
      <p:sp>
        <p:nvSpPr>
          <p:cNvPr id="55" name="Google Shape;55;p12"/>
          <p:cNvSpPr txBox="1"/>
          <p:nvPr>
            <p:ph idx="4294967295" type="subTitle"/>
          </p:nvPr>
        </p:nvSpPr>
        <p:spPr>
          <a:xfrm>
            <a:off x="311700" y="3395424"/>
            <a:ext cx="8520600" cy="1367076"/>
          </a:xfrm>
          <a:prstGeom prst="rect">
            <a:avLst/>
          </a:prstGeom>
          <a:solidFill>
            <a:schemeClr val="lt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rmAutofit/>
          </a:bodyPr>
          <a:lstStyle/>
          <a:p>
            <a:pPr indent="0" lvl="0" marL="0" marR="0" rtl="0" algn="ctr">
              <a:lnSpc>
                <a:spcPct val="95000"/>
              </a:lnSpc>
              <a:spcBef>
                <a:spcPts val="0"/>
              </a:spcBef>
              <a:spcAft>
                <a:spcPts val="0"/>
              </a:spcAft>
              <a:buClr>
                <a:schemeClr val="dk2"/>
              </a:buClr>
              <a:buSzPts val="744"/>
              <a:buFont typeface="Arial"/>
              <a:buNone/>
            </a:pPr>
            <a:r>
              <a:rPr b="1" i="0" lang="en-GB" sz="1400" u="none" cap="none" strike="noStrike">
                <a:solidFill>
                  <a:schemeClr val="dk1"/>
                </a:solidFill>
                <a:latin typeface="Calibri"/>
                <a:ea typeface="Calibri"/>
                <a:cs typeface="Calibri"/>
                <a:sym typeface="Calibri"/>
              </a:rPr>
              <a:t>NSE: </a:t>
            </a:r>
            <a:r>
              <a:rPr i="0" lang="en-GB" sz="1400" u="none" cap="none" strike="noStrike">
                <a:solidFill>
                  <a:schemeClr val="dk1"/>
                </a:solidFill>
                <a:latin typeface="Calibri"/>
                <a:ea typeface="Calibri"/>
                <a:cs typeface="Calibri"/>
                <a:sym typeface="Calibri"/>
              </a:rPr>
              <a:t>{{nse_symbol}}</a:t>
            </a:r>
            <a:r>
              <a:rPr b="1" i="0" lang="en-GB" sz="1400" u="none" cap="none" strike="noStrike">
                <a:solidFill>
                  <a:schemeClr val="dk1"/>
                </a:solidFill>
                <a:latin typeface="Calibri"/>
                <a:ea typeface="Calibri"/>
                <a:cs typeface="Calibri"/>
                <a:sym typeface="Calibri"/>
              </a:rPr>
              <a:t> | BOM: </a:t>
            </a:r>
            <a:r>
              <a:rPr i="0" lang="en-GB" sz="1400" u="none" cap="none" strike="noStrike">
                <a:solidFill>
                  <a:schemeClr val="dk1"/>
                </a:solidFill>
                <a:latin typeface="Calibri"/>
                <a:ea typeface="Calibri"/>
                <a:cs typeface="Calibri"/>
                <a:sym typeface="Calibri"/>
              </a:rPr>
              <a:t>{{bom_code}}</a:t>
            </a:r>
            <a:r>
              <a:rPr b="1" i="0" lang="en-GB" sz="1400" u="none" cap="none" strike="noStrike">
                <a:solidFill>
                  <a:schemeClr val="dk1"/>
                </a:solidFill>
                <a:latin typeface="Calibri"/>
                <a:ea typeface="Calibri"/>
                <a:cs typeface="Calibri"/>
                <a:sym typeface="Calibri"/>
              </a:rPr>
              <a:t> | Rating: </a:t>
            </a:r>
            <a:r>
              <a:rPr i="0" lang="en-GB" sz="1400" u="none" cap="none" strike="noStrike">
                <a:solidFill>
                  <a:schemeClr val="dk1"/>
                </a:solidFill>
                <a:latin typeface="Calibri"/>
                <a:ea typeface="Calibri"/>
                <a:cs typeface="Calibri"/>
                <a:sym typeface="Calibri"/>
              </a:rPr>
              <a:t>{{</a:t>
            </a:r>
            <a:r>
              <a:rPr lang="en-GB" sz="1400">
                <a:solidFill>
                  <a:schemeClr val="dk1"/>
                </a:solidFill>
                <a:latin typeface="Calibri"/>
                <a:ea typeface="Calibri"/>
                <a:cs typeface="Calibri"/>
                <a:sym typeface="Calibri"/>
              </a:rPr>
              <a:t>rating</a:t>
            </a:r>
            <a:r>
              <a:rPr i="0" lang="en-GB" sz="1400" u="none" cap="none" strike="noStrike">
                <a:solidFill>
                  <a:schemeClr val="dk1"/>
                </a:solidFill>
                <a:latin typeface="Calibri"/>
                <a:ea typeface="Calibri"/>
                <a:cs typeface="Calibri"/>
                <a:sym typeface="Calibri"/>
              </a:rPr>
              <a:t>}} </a:t>
            </a:r>
            <a:endParaRPr sz="1400">
              <a:latin typeface="Calibri"/>
              <a:ea typeface="Calibri"/>
              <a:cs typeface="Calibri"/>
              <a:sym typeface="Calibri"/>
            </a:endParaRPr>
          </a:p>
          <a:p>
            <a:pPr indent="0" lvl="0" marL="0" marR="0" rtl="0" algn="ctr">
              <a:lnSpc>
                <a:spcPct val="95000"/>
              </a:lnSpc>
              <a:spcBef>
                <a:spcPts val="0"/>
              </a:spcBef>
              <a:spcAft>
                <a:spcPts val="0"/>
              </a:spcAft>
              <a:buClr>
                <a:schemeClr val="dk2"/>
              </a:buClr>
              <a:buSzPts val="744"/>
              <a:buFont typeface="Arial"/>
              <a:buNone/>
            </a:pPr>
            <a:r>
              <a:rPr b="1" i="0" lang="en-GB" sz="1400" u="none" cap="none" strike="noStrike">
                <a:solidFill>
                  <a:schemeClr val="dk1"/>
                </a:solidFill>
                <a:latin typeface="Calibri"/>
                <a:ea typeface="Calibri"/>
                <a:cs typeface="Calibri"/>
                <a:sym typeface="Calibri"/>
              </a:rPr>
              <a:t>Market Cap: </a:t>
            </a:r>
            <a:r>
              <a:rPr i="0" lang="en-GB" sz="1400" u="none" cap="none" strike="noStrike">
                <a:solidFill>
                  <a:schemeClr val="dk1"/>
                </a:solidFill>
                <a:latin typeface="Calibri"/>
                <a:ea typeface="Calibri"/>
                <a:cs typeface="Calibri"/>
                <a:sym typeface="Calibri"/>
              </a:rPr>
              <a:t>₹{{market_cap}} Cr</a:t>
            </a:r>
            <a:r>
              <a:rPr b="1" i="0" lang="en-GB" sz="1400" u="none" cap="none" strike="noStrike">
                <a:solidFill>
                  <a:schemeClr val="dk1"/>
                </a:solidFill>
                <a:latin typeface="Calibri"/>
                <a:ea typeface="Calibri"/>
                <a:cs typeface="Calibri"/>
                <a:sym typeface="Calibri"/>
              </a:rPr>
              <a:t>|Market Cap Category: </a:t>
            </a:r>
            <a:r>
              <a:rPr i="0" lang="en-GB" sz="1400" u="none" cap="none" strike="noStrike">
                <a:solidFill>
                  <a:schemeClr val="dk1"/>
                </a:solidFill>
                <a:latin typeface="Calibri"/>
                <a:ea typeface="Calibri"/>
                <a:cs typeface="Calibri"/>
                <a:sym typeface="Calibri"/>
              </a:rPr>
              <a:t>{{market_cap_category}}</a:t>
            </a:r>
            <a:r>
              <a:rPr b="1" i="0" lang="en-GB" sz="1400" u="none" cap="none" strike="noStrike">
                <a:solidFill>
                  <a:schemeClr val="dk1"/>
                </a:solidFill>
                <a:latin typeface="Calibri"/>
                <a:ea typeface="Calibri"/>
                <a:cs typeface="Calibri"/>
                <a:sym typeface="Calibri"/>
              </a:rPr>
              <a:t>|CMP: </a:t>
            </a:r>
            <a:r>
              <a:rPr i="0" lang="en-GB" sz="1400" u="none" cap="none" strike="noStrike">
                <a:solidFill>
                  <a:schemeClr val="dk1"/>
                </a:solidFill>
                <a:latin typeface="Calibri"/>
                <a:ea typeface="Calibri"/>
                <a:cs typeface="Calibri"/>
                <a:sym typeface="Calibri"/>
              </a:rPr>
              <a:t>₹{{current_market_price}}</a:t>
            </a:r>
            <a:endParaRPr i="0" sz="1400" u="none" cap="none" strike="noStrike">
              <a:solidFill>
                <a:schemeClr val="dk1"/>
              </a:solidFill>
              <a:latin typeface="Calibri"/>
              <a:ea typeface="Calibri"/>
              <a:cs typeface="Calibri"/>
              <a:sym typeface="Calibri"/>
            </a:endParaRPr>
          </a:p>
          <a:p>
            <a:pPr indent="0" lvl="0" marL="0" marR="0" rtl="0" algn="ctr">
              <a:lnSpc>
                <a:spcPct val="95000"/>
              </a:lnSpc>
              <a:spcBef>
                <a:spcPts val="0"/>
              </a:spcBef>
              <a:spcAft>
                <a:spcPts val="0"/>
              </a:spcAft>
              <a:buClr>
                <a:schemeClr val="dk2"/>
              </a:buClr>
              <a:buSzPts val="744"/>
              <a:buFont typeface="Arial"/>
              <a:buNone/>
            </a:pPr>
            <a:r>
              <a:rPr b="1" i="0" lang="en-GB" sz="1400" u="none" cap="none" strike="noStrike">
                <a:solidFill>
                  <a:schemeClr val="dk1"/>
                </a:solidFill>
                <a:latin typeface="Calibri"/>
                <a:ea typeface="Calibri"/>
                <a:cs typeface="Calibri"/>
                <a:sym typeface="Calibri"/>
              </a:rPr>
              <a:t>Target Price: </a:t>
            </a:r>
            <a:r>
              <a:rPr i="0" lang="en-GB" sz="1400" u="none" cap="none" strike="noStrike">
                <a:solidFill>
                  <a:schemeClr val="dk1"/>
                </a:solidFill>
                <a:latin typeface="Calibri"/>
                <a:ea typeface="Calibri"/>
                <a:cs typeface="Calibri"/>
                <a:sym typeface="Calibri"/>
              </a:rPr>
              <a:t>₹{{target_price}}</a:t>
            </a:r>
            <a:r>
              <a:rPr b="1" i="0" lang="en-GB" sz="1400" u="none" cap="none" strike="noStrike">
                <a:solidFill>
                  <a:schemeClr val="dk1"/>
                </a:solidFill>
                <a:latin typeface="Calibri"/>
                <a:ea typeface="Calibri"/>
                <a:cs typeface="Calibri"/>
                <a:sym typeface="Calibri"/>
              </a:rPr>
              <a:t>|Upside: </a:t>
            </a:r>
            <a:r>
              <a:rPr i="0" lang="en-GB" sz="1400" u="none" cap="none" strike="noStrike">
                <a:solidFill>
                  <a:schemeClr val="dk1"/>
                </a:solidFill>
                <a:latin typeface="Calibri"/>
                <a:ea typeface="Calibri"/>
                <a:cs typeface="Calibri"/>
                <a:sym typeface="Calibri"/>
              </a:rPr>
              <a:t>{{upside_percentage}}</a:t>
            </a:r>
            <a:endParaRPr sz="1400">
              <a:latin typeface="Calibri"/>
              <a:ea typeface="Calibri"/>
              <a:cs typeface="Calibri"/>
              <a:sym typeface="Calibri"/>
            </a:endParaRPr>
          </a:p>
          <a:p>
            <a:pPr indent="0" lvl="0" marL="0" marR="0" rtl="0" algn="ctr">
              <a:lnSpc>
                <a:spcPct val="95000"/>
              </a:lnSpc>
              <a:spcBef>
                <a:spcPts val="0"/>
              </a:spcBef>
              <a:spcAft>
                <a:spcPts val="0"/>
              </a:spcAft>
              <a:buClr>
                <a:schemeClr val="dk2"/>
              </a:buClr>
              <a:buSzPts val="744"/>
              <a:buFont typeface="Arial"/>
              <a:buNone/>
            </a:pPr>
            <a:r>
              <a:rPr b="1" i="0" lang="en-GB" sz="1400" u="none" cap="none" strike="noStrike">
                <a:solidFill>
                  <a:schemeClr val="dk1"/>
                </a:solidFill>
                <a:latin typeface="Calibri"/>
                <a:ea typeface="Calibri"/>
                <a:cs typeface="Calibri"/>
                <a:sym typeface="Calibri"/>
              </a:rPr>
              <a:t>Date: </a:t>
            </a:r>
            <a:r>
              <a:rPr i="0" lang="en-GB" sz="1400" u="none" cap="none" strike="noStrike">
                <a:solidFill>
                  <a:schemeClr val="dk1"/>
                </a:solidFill>
                <a:latin typeface="Calibri"/>
                <a:ea typeface="Calibri"/>
                <a:cs typeface="Calibri"/>
                <a:sym typeface="Calibri"/>
              </a:rPr>
              <a:t>{{today_date}}</a:t>
            </a:r>
            <a:endParaRPr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3"/>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200"/>
              <a:buNone/>
            </a:pPr>
            <a:r>
              <a:rPr lang="en-GB"/>
              <a:t>Company Insider</a:t>
            </a:r>
            <a:endParaRPr/>
          </a:p>
        </p:txBody>
      </p:sp>
      <p:sp>
        <p:nvSpPr>
          <p:cNvPr id="61" name="Google Shape;61;p13"/>
          <p:cNvSpPr txBox="1"/>
          <p:nvPr/>
        </p:nvSpPr>
        <p:spPr>
          <a:xfrm>
            <a:off x="6001103" y="3409245"/>
            <a:ext cx="188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i="0" lang="en-GB" sz="1200" u="none" cap="none" strike="noStrike">
                <a:solidFill>
                  <a:srgbClr val="000000"/>
                </a:solidFill>
                <a:latin typeface="Calibri"/>
                <a:ea typeface="Calibri"/>
                <a:cs typeface="Calibri"/>
                <a:sym typeface="Calibri"/>
              </a:rPr>
              <a:t>{{financial_table}}</a:t>
            </a:r>
            <a:endParaRPr i="0" sz="1200" u="none" cap="none" strike="noStrike">
              <a:solidFill>
                <a:srgbClr val="000000"/>
              </a:solidFill>
              <a:latin typeface="Calibri"/>
              <a:ea typeface="Calibri"/>
              <a:cs typeface="Calibri"/>
              <a:sym typeface="Calibri"/>
            </a:endParaRPr>
          </a:p>
        </p:txBody>
      </p:sp>
      <p:sp>
        <p:nvSpPr>
          <p:cNvPr id="62" name="Google Shape;62;p13"/>
          <p:cNvSpPr txBox="1"/>
          <p:nvPr/>
        </p:nvSpPr>
        <p:spPr>
          <a:xfrm>
            <a:off x="6083403" y="1193220"/>
            <a:ext cx="188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i="0" lang="en-GB" sz="1200" u="none" cap="none" strike="noStrike">
                <a:solidFill>
                  <a:srgbClr val="000000"/>
                </a:solidFill>
                <a:latin typeface="Calibri"/>
                <a:ea typeface="Calibri"/>
                <a:cs typeface="Calibri"/>
                <a:sym typeface="Calibri"/>
              </a:rPr>
              <a:t>{{prize_chart}}</a:t>
            </a:r>
            <a:endParaRPr i="0" sz="1200" u="none" cap="none" strike="noStrike">
              <a:solidFill>
                <a:srgbClr val="000000"/>
              </a:solidFill>
              <a:latin typeface="Calibri"/>
              <a:ea typeface="Calibri"/>
              <a:cs typeface="Calibri"/>
              <a:sym typeface="Calibri"/>
            </a:endParaRPr>
          </a:p>
        </p:txBody>
      </p:sp>
      <p:sp>
        <p:nvSpPr>
          <p:cNvPr id="63" name="Google Shape;63;p13"/>
          <p:cNvSpPr txBox="1"/>
          <p:nvPr/>
        </p:nvSpPr>
        <p:spPr>
          <a:xfrm>
            <a:off x="85981" y="627056"/>
            <a:ext cx="4381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GB" sz="1200">
                <a:latin typeface="Calibri"/>
                <a:ea typeface="Calibri"/>
                <a:cs typeface="Calibri"/>
                <a:sym typeface="Calibri"/>
              </a:rPr>
              <a:t>{{cs_investment_rationale}}</a:t>
            </a:r>
            <a:endParaRPr sz="1200">
              <a:latin typeface="Calibri"/>
              <a:ea typeface="Calibri"/>
              <a:cs typeface="Calibri"/>
              <a:sym typeface="Calibri"/>
            </a:endParaRPr>
          </a:p>
          <a:p>
            <a:pPr indent="0" lvl="0" marL="0" marR="0" rtl="0" algn="l">
              <a:lnSpc>
                <a:spcPct val="100000"/>
              </a:lnSpc>
              <a:spcBef>
                <a:spcPts val="0"/>
              </a:spcBef>
              <a:spcAft>
                <a:spcPts val="0"/>
              </a:spcAft>
              <a:buNone/>
            </a:pPr>
            <a:r>
              <a:t/>
            </a:r>
            <a:endParaRPr i="0" sz="120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200"/>
              <a:buNone/>
            </a:pPr>
            <a:r>
              <a:rPr lang="en-GB"/>
              <a:t>Company Background</a:t>
            </a:r>
            <a:endParaRPr/>
          </a:p>
        </p:txBody>
      </p:sp>
      <p:sp>
        <p:nvSpPr>
          <p:cNvPr id="69" name="Google Shape;69;p14"/>
          <p:cNvSpPr txBox="1"/>
          <p:nvPr/>
        </p:nvSpPr>
        <p:spPr>
          <a:xfrm>
            <a:off x="138289" y="626272"/>
            <a:ext cx="8867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0" lang="en-GB" sz="1200" u="none" cap="none" strike="noStrike">
                <a:solidFill>
                  <a:schemeClr val="dk1"/>
                </a:solidFill>
                <a:latin typeface="Calibri"/>
                <a:ea typeface="Calibri"/>
                <a:cs typeface="Calibri"/>
                <a:sym typeface="Calibri"/>
              </a:rPr>
              <a:t> {{company_background}}</a:t>
            </a:r>
            <a:endParaRPr i="0" sz="1200" u="none" cap="none" strike="noStrik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200"/>
              <a:buNone/>
            </a:pPr>
            <a:r>
              <a:rPr lang="en-GB"/>
              <a:t>Business Model</a:t>
            </a:r>
            <a:endParaRPr/>
          </a:p>
        </p:txBody>
      </p:sp>
      <p:sp>
        <p:nvSpPr>
          <p:cNvPr id="75" name="Google Shape;75;p15"/>
          <p:cNvSpPr txBox="1"/>
          <p:nvPr/>
        </p:nvSpPr>
        <p:spPr>
          <a:xfrm>
            <a:off x="138303" y="631297"/>
            <a:ext cx="8867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0" lang="en-GB" sz="1200" u="none" cap="none" strike="noStrike">
                <a:solidFill>
                  <a:schemeClr val="dk1"/>
                </a:solidFill>
                <a:latin typeface="Calibri"/>
                <a:ea typeface="Calibri"/>
                <a:cs typeface="Calibri"/>
                <a:sym typeface="Calibri"/>
              </a:rPr>
              <a:t>{{business_model}}</a:t>
            </a:r>
            <a:endParaRPr i="0" sz="12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200"/>
              <a:buNone/>
            </a:pPr>
            <a:r>
              <a:rPr lang="en-GB"/>
              <a:t>Management Analysis</a:t>
            </a:r>
            <a:endParaRPr/>
          </a:p>
        </p:txBody>
      </p:sp>
      <p:sp>
        <p:nvSpPr>
          <p:cNvPr id="81" name="Google Shape;81;p16"/>
          <p:cNvSpPr txBox="1"/>
          <p:nvPr/>
        </p:nvSpPr>
        <p:spPr>
          <a:xfrm>
            <a:off x="138289" y="632649"/>
            <a:ext cx="8867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0" lang="en-GB" sz="1200" u="none" cap="none" strike="noStrike">
                <a:solidFill>
                  <a:schemeClr val="dk1"/>
                </a:solidFill>
                <a:latin typeface="Calibri"/>
                <a:ea typeface="Calibri"/>
                <a:cs typeface="Calibri"/>
                <a:sym typeface="Calibri"/>
              </a:rPr>
              <a:t>{{management_analysis}}</a:t>
            </a:r>
            <a:endParaRPr i="0" sz="12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200"/>
              <a:buNone/>
            </a:pPr>
            <a:r>
              <a:rPr lang="en-GB"/>
              <a:t>Corporate Governance</a:t>
            </a:r>
            <a:endParaRPr/>
          </a:p>
        </p:txBody>
      </p:sp>
      <p:sp>
        <p:nvSpPr>
          <p:cNvPr id="87" name="Google Shape;87;p17"/>
          <p:cNvSpPr txBox="1"/>
          <p:nvPr/>
        </p:nvSpPr>
        <p:spPr>
          <a:xfrm>
            <a:off x="138289" y="646974"/>
            <a:ext cx="8867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0" lang="en-GB" sz="1200" u="none" cap="none" strike="noStrike">
                <a:solidFill>
                  <a:schemeClr val="dk1"/>
                </a:solidFill>
                <a:latin typeface="Calibri"/>
                <a:ea typeface="Calibri"/>
                <a:cs typeface="Calibri"/>
                <a:sym typeface="Calibri"/>
              </a:rPr>
              <a:t>{{</a:t>
            </a:r>
            <a:r>
              <a:rPr lang="en-GB" sz="1200">
                <a:solidFill>
                  <a:schemeClr val="dk1"/>
                </a:solidFill>
                <a:latin typeface="Calibri"/>
                <a:ea typeface="Calibri"/>
                <a:cs typeface="Calibri"/>
                <a:sym typeface="Calibri"/>
              </a:rPr>
              <a:t>cs_corporate_governance</a:t>
            </a:r>
            <a:r>
              <a:rPr i="0" lang="en-GB" sz="1200" u="none" cap="none" strike="noStrike">
                <a:solidFill>
                  <a:schemeClr val="dk1"/>
                </a:solidFill>
                <a:latin typeface="Calibri"/>
                <a:ea typeface="Calibri"/>
                <a:cs typeface="Calibri"/>
                <a:sym typeface="Calibri"/>
              </a:rPr>
              <a:t>}}</a:t>
            </a:r>
            <a:endParaRPr i="0" sz="1200" u="none" cap="none" strike="noStrik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200"/>
              <a:buNone/>
            </a:pPr>
            <a:r>
              <a:rPr lang="en-GB"/>
              <a:t>Industry Overview</a:t>
            </a:r>
            <a:endParaRPr/>
          </a:p>
        </p:txBody>
      </p:sp>
      <p:sp>
        <p:nvSpPr>
          <p:cNvPr id="93" name="Google Shape;93;p18"/>
          <p:cNvSpPr txBox="1"/>
          <p:nvPr/>
        </p:nvSpPr>
        <p:spPr>
          <a:xfrm>
            <a:off x="90904" y="646084"/>
            <a:ext cx="8962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0" lang="en-GB" sz="1200" u="none" cap="none" strike="noStrike">
                <a:solidFill>
                  <a:schemeClr val="dk1"/>
                </a:solidFill>
                <a:latin typeface="Calibri"/>
                <a:ea typeface="Calibri"/>
                <a:cs typeface="Calibri"/>
                <a:sym typeface="Calibri"/>
              </a:rPr>
              <a:t>{{industry_overview}}</a:t>
            </a:r>
            <a:endParaRPr i="0" sz="1200" u="none" cap="none" strike="noStrik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200"/>
              <a:buNone/>
            </a:pPr>
            <a:r>
              <a:rPr lang="en-GB"/>
              <a:t>Key Industry Tailwinds</a:t>
            </a:r>
            <a:endParaRPr/>
          </a:p>
        </p:txBody>
      </p:sp>
      <p:sp>
        <p:nvSpPr>
          <p:cNvPr id="99" name="Google Shape;99;p19"/>
          <p:cNvSpPr txBox="1"/>
          <p:nvPr/>
        </p:nvSpPr>
        <p:spPr>
          <a:xfrm>
            <a:off x="138289" y="654947"/>
            <a:ext cx="8867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0" lang="en-GB" sz="1200" u="none" cap="none" strike="noStrike">
                <a:solidFill>
                  <a:srgbClr val="000000"/>
                </a:solidFill>
                <a:latin typeface="Calibri"/>
                <a:ea typeface="Calibri"/>
                <a:cs typeface="Calibri"/>
                <a:sym typeface="Calibri"/>
              </a:rPr>
              <a:t>{{industry_tailwinds}}</a:t>
            </a:r>
            <a:endParaRPr i="0" sz="1200" u="none" cap="none" strike="noStrik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200"/>
              <a:buNone/>
            </a:pPr>
            <a:r>
              <a:rPr lang="en-GB"/>
              <a:t>Demand Drivers</a:t>
            </a:r>
            <a:endParaRPr/>
          </a:p>
        </p:txBody>
      </p:sp>
      <p:sp>
        <p:nvSpPr>
          <p:cNvPr id="105" name="Google Shape;105;p20"/>
          <p:cNvSpPr txBox="1"/>
          <p:nvPr/>
        </p:nvSpPr>
        <p:spPr>
          <a:xfrm>
            <a:off x="161850" y="646625"/>
            <a:ext cx="88203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0" lang="en-GB" sz="1200" u="none" cap="none" strike="noStrike">
                <a:solidFill>
                  <a:schemeClr val="dk1"/>
                </a:solidFill>
                <a:latin typeface="Calibri"/>
                <a:ea typeface="Calibri"/>
                <a:cs typeface="Calibri"/>
                <a:sym typeface="Calibri"/>
              </a:rPr>
              <a:t>{{demand_drivers}}</a:t>
            </a:r>
            <a:endParaRPr i="0" sz="1200"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200"/>
              <a:buNone/>
            </a:pPr>
            <a:r>
              <a:rPr lang="en-GB"/>
              <a:t>Industry Risks</a:t>
            </a:r>
            <a:endParaRPr/>
          </a:p>
        </p:txBody>
      </p:sp>
      <p:sp>
        <p:nvSpPr>
          <p:cNvPr id="111" name="Google Shape;111;p21"/>
          <p:cNvSpPr txBox="1"/>
          <p:nvPr/>
        </p:nvSpPr>
        <p:spPr>
          <a:xfrm>
            <a:off x="219150" y="623600"/>
            <a:ext cx="8705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0" lang="en-GB" sz="1200" u="none" cap="none" strike="noStrike">
                <a:solidFill>
                  <a:schemeClr val="dk1"/>
                </a:solidFill>
                <a:latin typeface="Calibri"/>
                <a:ea typeface="Calibri"/>
                <a:cs typeface="Calibri"/>
                <a:sym typeface="Calibri"/>
              </a:rPr>
              <a:t>{{industry_risk}}</a:t>
            </a:r>
            <a:endParaRPr i="0" sz="1200" u="none" cap="none" strike="noStrike">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200"/>
              <a:buNone/>
            </a:pPr>
            <a:r>
              <a:rPr lang="en-GB"/>
              <a:t>SAARTHI Framework</a:t>
            </a:r>
            <a:endParaRPr/>
          </a:p>
        </p:txBody>
      </p:sp>
      <p:sp>
        <p:nvSpPr>
          <p:cNvPr id="117" name="Google Shape;117;p22"/>
          <p:cNvSpPr txBox="1"/>
          <p:nvPr/>
        </p:nvSpPr>
        <p:spPr>
          <a:xfrm>
            <a:off x="219150" y="637950"/>
            <a:ext cx="8705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0" lang="en-GB" sz="1200" u="none" cap="none" strike="noStrike">
                <a:solidFill>
                  <a:schemeClr val="dk1"/>
                </a:solidFill>
                <a:latin typeface="Calibri"/>
                <a:ea typeface="Calibri"/>
                <a:cs typeface="Calibri"/>
                <a:sym typeface="Calibri"/>
              </a:rPr>
              <a:t>{{</a:t>
            </a:r>
            <a:r>
              <a:rPr lang="en-GB" sz="1200">
                <a:solidFill>
                  <a:schemeClr val="dk1"/>
                </a:solidFill>
                <a:latin typeface="Calibri"/>
                <a:ea typeface="Calibri"/>
                <a:cs typeface="Calibri"/>
                <a:sym typeface="Calibri"/>
              </a:rPr>
              <a:t>cs_saarthi_framework</a:t>
            </a:r>
            <a:r>
              <a:rPr i="0" lang="en-GB" sz="1200" u="none" cap="none" strike="noStrike">
                <a:solidFill>
                  <a:schemeClr val="dk1"/>
                </a:solidFill>
                <a:latin typeface="Calibri"/>
                <a:ea typeface="Calibri"/>
                <a:cs typeface="Calibri"/>
                <a:sym typeface="Calibri"/>
              </a:rPr>
              <a:t>}}</a:t>
            </a:r>
            <a:endParaRPr i="0" sz="1200" u="none" cap="none" strike="noStrike">
              <a:solidFill>
                <a:srgbClr val="0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200"/>
              <a:buNone/>
            </a:pPr>
            <a:r>
              <a:rPr lang="en-GB"/>
              <a:t>Entry, Review &amp; Exit Strategy</a:t>
            </a:r>
            <a:endParaRPr/>
          </a:p>
        </p:txBody>
      </p:sp>
      <p:sp>
        <p:nvSpPr>
          <p:cNvPr id="123" name="Google Shape;123;p23"/>
          <p:cNvSpPr txBox="1"/>
          <p:nvPr/>
        </p:nvSpPr>
        <p:spPr>
          <a:xfrm>
            <a:off x="219150" y="652250"/>
            <a:ext cx="8705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0" lang="en-GB" sz="1200" u="none" cap="none" strike="noStrike">
                <a:solidFill>
                  <a:schemeClr val="dk1"/>
                </a:solidFill>
                <a:latin typeface="Calibri"/>
                <a:ea typeface="Calibri"/>
                <a:cs typeface="Calibri"/>
                <a:sym typeface="Calibri"/>
              </a:rPr>
              <a:t>{{</a:t>
            </a:r>
            <a:r>
              <a:rPr lang="en-GB" sz="1200">
                <a:solidFill>
                  <a:schemeClr val="dk1"/>
                </a:solidFill>
                <a:latin typeface="Calibri"/>
                <a:ea typeface="Calibri"/>
                <a:cs typeface="Calibri"/>
                <a:sym typeface="Calibri"/>
              </a:rPr>
              <a:t>cs_entry_review_exit_strategy</a:t>
            </a:r>
            <a:r>
              <a:rPr i="0" lang="en-GB" sz="1200" u="none" cap="none" strike="noStrike">
                <a:solidFill>
                  <a:schemeClr val="dk1"/>
                </a:solidFill>
                <a:latin typeface="Calibri"/>
                <a:ea typeface="Calibri"/>
                <a:cs typeface="Calibri"/>
                <a:sym typeface="Calibri"/>
              </a:rPr>
              <a:t>}}</a:t>
            </a:r>
            <a:endParaRPr i="0" sz="1200" u="none" cap="none" strike="noStrike">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200"/>
              <a:buNone/>
            </a:pPr>
            <a:r>
              <a:rPr lang="en-GB"/>
              <a:t>Scenario Analysis</a:t>
            </a:r>
            <a:endParaRPr/>
          </a:p>
        </p:txBody>
      </p:sp>
      <p:sp>
        <p:nvSpPr>
          <p:cNvPr id="129" name="Google Shape;129;p24"/>
          <p:cNvSpPr txBox="1"/>
          <p:nvPr/>
        </p:nvSpPr>
        <p:spPr>
          <a:xfrm>
            <a:off x="219150" y="623600"/>
            <a:ext cx="8705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0" lang="en-GB" sz="1200" u="none" cap="none" strike="noStrike">
                <a:solidFill>
                  <a:schemeClr val="dk1"/>
                </a:solidFill>
                <a:latin typeface="Calibri"/>
                <a:ea typeface="Calibri"/>
                <a:cs typeface="Calibri"/>
                <a:sym typeface="Calibri"/>
              </a:rPr>
              <a:t>{{</a:t>
            </a:r>
            <a:r>
              <a:rPr lang="en-GB" sz="1200">
                <a:solidFill>
                  <a:schemeClr val="dk1"/>
                </a:solidFill>
                <a:latin typeface="Calibri"/>
                <a:ea typeface="Calibri"/>
                <a:cs typeface="Calibri"/>
                <a:sym typeface="Calibri"/>
              </a:rPr>
              <a:t>cs_scenario_analysis</a:t>
            </a:r>
            <a:r>
              <a:rPr i="0" lang="en-GB" sz="1200" u="none" cap="none" strike="noStrike">
                <a:solidFill>
                  <a:schemeClr val="dk1"/>
                </a:solidFill>
                <a:latin typeface="Calibri"/>
                <a:ea typeface="Calibri"/>
                <a:cs typeface="Calibri"/>
                <a:sym typeface="Calibri"/>
              </a:rPr>
              <a:t>}}</a:t>
            </a:r>
            <a:endParaRPr i="0" sz="1200" u="none" cap="none" strike="noStrike">
              <a:solidFill>
                <a:srgbClr val="00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200"/>
              <a:buNone/>
            </a:pPr>
            <a:r>
              <a:rPr lang="en-GB"/>
              <a:t>Financials and Ratio Analysis</a:t>
            </a:r>
            <a:endParaRPr/>
          </a:p>
        </p:txBody>
      </p:sp>
      <p:sp>
        <p:nvSpPr>
          <p:cNvPr id="135" name="Google Shape;135;p25"/>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chemeClr val="lt1"/>
              </a:buClr>
              <a:buSzPts val="2200"/>
              <a:buFont typeface="Calibri"/>
              <a:buNone/>
            </a:pPr>
            <a:r>
              <a:t/>
            </a:r>
            <a:endParaRPr/>
          </a:p>
        </p:txBody>
      </p:sp>
      <p:sp>
        <p:nvSpPr>
          <p:cNvPr id="136" name="Google Shape;136;p25"/>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chemeClr val="lt1"/>
              </a:buClr>
              <a:buSzPts val="2200"/>
              <a:buFont typeface="Calibri"/>
              <a:buNone/>
            </a:pPr>
            <a:r>
              <a:t/>
            </a:r>
            <a:endParaRPr/>
          </a:p>
        </p:txBody>
      </p:sp>
      <p:sp>
        <p:nvSpPr>
          <p:cNvPr id="137" name="Google Shape;137;p25"/>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chemeClr val="lt1"/>
              </a:buClr>
              <a:buSzPts val="2200"/>
              <a:buFont typeface="Calibri"/>
              <a:buNone/>
            </a:pPr>
            <a:r>
              <a:t/>
            </a:r>
            <a:endParaRPr/>
          </a:p>
        </p:txBody>
      </p:sp>
      <p:sp>
        <p:nvSpPr>
          <p:cNvPr id="138" name="Google Shape;138;p25"/>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chemeClr val="lt1"/>
              </a:buClr>
              <a:buSzPts val="2200"/>
              <a:buFont typeface="Calibri"/>
              <a:buNone/>
            </a:pPr>
            <a:r>
              <a:rPr lang="en-GB"/>
              <a:t>Financials Summary</a:t>
            </a:r>
            <a:endParaRPr/>
          </a:p>
        </p:txBody>
      </p:sp>
      <p:sp>
        <p:nvSpPr>
          <p:cNvPr id="139" name="Google Shape;139;p25"/>
          <p:cNvSpPr txBox="1"/>
          <p:nvPr/>
        </p:nvSpPr>
        <p:spPr>
          <a:xfrm>
            <a:off x="594782" y="659486"/>
            <a:ext cx="24150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i="0" lang="en-GB" sz="1200" u="none" cap="none" strike="noStrike">
                <a:solidFill>
                  <a:srgbClr val="000000"/>
                </a:solidFill>
                <a:latin typeface="Calibri"/>
                <a:ea typeface="Calibri"/>
                <a:cs typeface="Calibri"/>
                <a:sym typeface="Calibri"/>
              </a:rPr>
              <a:t>{{summary_table}}</a:t>
            </a:r>
            <a:endParaRPr i="0" sz="1200" u="none" cap="none" strike="noStrike">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200"/>
              <a:buNone/>
            </a:pPr>
            <a:r>
              <a:rPr lang="en-GB"/>
              <a:t>Story in Charts</a:t>
            </a:r>
            <a:endParaRPr/>
          </a:p>
        </p:txBody>
      </p:sp>
      <p:sp>
        <p:nvSpPr>
          <p:cNvPr id="145" name="Google Shape;145;p26"/>
          <p:cNvSpPr txBox="1"/>
          <p:nvPr/>
        </p:nvSpPr>
        <p:spPr>
          <a:xfrm>
            <a:off x="2562578" y="1636889"/>
            <a:ext cx="14958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i="0" lang="en-GB" sz="1200" u="none" cap="none" strike="noStrike">
                <a:solidFill>
                  <a:srgbClr val="000000"/>
                </a:solidFill>
                <a:latin typeface="Calibri"/>
                <a:ea typeface="Calibri"/>
                <a:cs typeface="Calibri"/>
                <a:sym typeface="Calibri"/>
              </a:rPr>
              <a:t>{{chart_custom}}</a:t>
            </a:r>
            <a:endParaRPr i="0" sz="1200" u="none" cap="none" strike="noStrike">
              <a:solidFill>
                <a:srgbClr val="00000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200"/>
              <a:buNone/>
            </a:pPr>
            <a:r>
              <a:rPr lang="en-GB"/>
              <a:t>Disclosure and Disclaimers</a:t>
            </a:r>
            <a:endParaRPr/>
          </a:p>
        </p:txBody>
      </p:sp>
      <p:sp>
        <p:nvSpPr>
          <p:cNvPr id="151" name="Google Shape;151;p27"/>
          <p:cNvSpPr txBox="1"/>
          <p:nvPr/>
        </p:nvSpPr>
        <p:spPr>
          <a:xfrm>
            <a:off x="0" y="543600"/>
            <a:ext cx="9144000" cy="4224300"/>
          </a:xfrm>
          <a:prstGeom prst="rect">
            <a:avLst/>
          </a:prstGeom>
          <a:solidFill>
            <a:schemeClr val="lt1"/>
          </a:solidFill>
          <a:ln>
            <a:noFill/>
          </a:ln>
        </p:spPr>
        <p:txBody>
          <a:bodyPr anchorCtr="0" anchor="ctr" bIns="91425" lIns="91425" spcFirstLastPara="1" rIns="91425" wrap="square" tIns="91425">
            <a:noAutofit/>
          </a:bodyPr>
          <a:lstStyle/>
          <a:p>
            <a:pPr indent="0" lvl="0" marL="200660" marR="1198245" rtl="0" algn="just">
              <a:lnSpc>
                <a:spcPct val="100000"/>
              </a:lnSpc>
              <a:spcBef>
                <a:spcPts val="590"/>
              </a:spcBef>
              <a:spcAft>
                <a:spcPts val="0"/>
              </a:spcAft>
              <a:buClr>
                <a:srgbClr val="000000"/>
              </a:buClr>
              <a:buSzPts val="1000"/>
              <a:buFont typeface="Arial"/>
              <a:buNone/>
            </a:pPr>
            <a:r>
              <a:rPr b="1" i="0" lang="en-GB" sz="1000" u="none" cap="none" strike="noStrike">
                <a:solidFill>
                  <a:srgbClr val="1F3864"/>
                </a:solidFill>
                <a:latin typeface="Calibri"/>
                <a:ea typeface="Calibri"/>
                <a:cs typeface="Calibri"/>
                <a:sym typeface="Calibri"/>
              </a:rPr>
              <a:t>About Us: </a:t>
            </a:r>
            <a:r>
              <a:rPr b="0" i="0" lang="en-GB" sz="1000" u="none" cap="none" strike="noStrike">
                <a:solidFill>
                  <a:schemeClr val="dk1"/>
                </a:solidFill>
                <a:latin typeface="Calibri"/>
                <a:ea typeface="Calibri"/>
                <a:cs typeface="Calibri"/>
                <a:sym typeface="Calibri"/>
              </a:rPr>
              <a:t>Research Analyst is registered with SEBI as Research Analyst with Registration No. INH000009807. The firm got its registration on June 13, 2022, and is engaged in research services.</a:t>
            </a:r>
            <a:endParaRPr b="0" i="0" sz="1000" u="none" cap="none" strike="noStrike">
              <a:solidFill>
                <a:schemeClr val="dk1"/>
              </a:solidFill>
              <a:latin typeface="Calibri"/>
              <a:ea typeface="Calibri"/>
              <a:cs typeface="Calibri"/>
              <a:sym typeface="Calibri"/>
            </a:endParaRPr>
          </a:p>
          <a:p>
            <a:pPr indent="0" lvl="0" marL="200660" marR="306070" rtl="0" algn="just">
              <a:lnSpc>
                <a:spcPct val="100000"/>
              </a:lnSpc>
              <a:spcBef>
                <a:spcPts val="0"/>
              </a:spcBef>
              <a:spcAft>
                <a:spcPts val="0"/>
              </a:spcAft>
              <a:buClr>
                <a:srgbClr val="000000"/>
              </a:buClr>
              <a:buSzPts val="1000"/>
              <a:buFont typeface="Arial"/>
              <a:buNone/>
            </a:pPr>
            <a:r>
              <a:rPr b="1" i="0" lang="en-GB" sz="1000" u="none" cap="none" strike="noStrike">
                <a:solidFill>
                  <a:srgbClr val="1F3864"/>
                </a:solidFill>
                <a:latin typeface="Calibri"/>
                <a:ea typeface="Calibri"/>
                <a:cs typeface="Calibri"/>
                <a:sym typeface="Calibri"/>
              </a:rPr>
              <a:t>Disciplinary history: </a:t>
            </a:r>
            <a:r>
              <a:rPr b="0" i="0" lang="en-GB" sz="1000" u="none" cap="none" strike="noStrike">
                <a:solidFill>
                  <a:schemeClr val="dk1"/>
                </a:solidFill>
                <a:latin typeface="Calibri"/>
                <a:ea typeface="Calibri"/>
                <a:cs typeface="Calibri"/>
                <a:sym typeface="Calibri"/>
              </a:rPr>
              <a:t>No penalties / directions have been issued by SEBI under the SEBI Act or Regulations made there under. There are no pending material litigations or legal proceedings, findings of inspections or investigations for which action has been taken or initiated by any regulatory authority.</a:t>
            </a:r>
            <a:endParaRPr b="0" i="0" sz="1000" u="none" cap="none" strike="noStrike">
              <a:solidFill>
                <a:schemeClr val="dk1"/>
              </a:solidFill>
              <a:latin typeface="Calibri"/>
              <a:ea typeface="Calibri"/>
              <a:cs typeface="Calibri"/>
              <a:sym typeface="Calibri"/>
            </a:endParaRPr>
          </a:p>
          <a:p>
            <a:pPr indent="0" lvl="0" marL="200660" marR="0" rtl="0" algn="just">
              <a:lnSpc>
                <a:spcPct val="100000"/>
              </a:lnSpc>
              <a:spcBef>
                <a:spcPts val="5"/>
              </a:spcBef>
              <a:spcAft>
                <a:spcPts val="0"/>
              </a:spcAft>
              <a:buClr>
                <a:srgbClr val="000000"/>
              </a:buClr>
              <a:buSzPts val="1000"/>
              <a:buFont typeface="Arial"/>
              <a:buNone/>
            </a:pPr>
            <a:r>
              <a:rPr b="1" i="0" lang="en-GB" sz="1000" u="none" cap="none" strike="noStrike">
                <a:solidFill>
                  <a:srgbClr val="1F3864"/>
                </a:solidFill>
                <a:latin typeface="Calibri"/>
                <a:ea typeface="Calibri"/>
                <a:cs typeface="Calibri"/>
                <a:sym typeface="Calibri"/>
              </a:rPr>
              <a:t>Details of its associates: </a:t>
            </a:r>
            <a:r>
              <a:rPr b="0" i="0" lang="en-GB" sz="1000" u="none" cap="none" strike="noStrike">
                <a:solidFill>
                  <a:schemeClr val="dk1"/>
                </a:solidFill>
                <a:latin typeface="Calibri"/>
                <a:ea typeface="Calibri"/>
                <a:cs typeface="Calibri"/>
                <a:sym typeface="Calibri"/>
              </a:rPr>
              <a:t>No associates</a:t>
            </a:r>
            <a:endParaRPr b="0" i="0" sz="1000" u="none" cap="none" strike="noStrike">
              <a:solidFill>
                <a:schemeClr val="dk1"/>
              </a:solidFill>
              <a:latin typeface="Calibri"/>
              <a:ea typeface="Calibri"/>
              <a:cs typeface="Calibri"/>
              <a:sym typeface="Calibri"/>
            </a:endParaRPr>
          </a:p>
          <a:p>
            <a:pPr indent="0" lvl="0" marL="200660" marR="0" rtl="0" algn="just">
              <a:lnSpc>
                <a:spcPct val="100000"/>
              </a:lnSpc>
              <a:spcBef>
                <a:spcPts val="0"/>
              </a:spcBef>
              <a:spcAft>
                <a:spcPts val="0"/>
              </a:spcAft>
              <a:buClr>
                <a:srgbClr val="000000"/>
              </a:buClr>
              <a:buSzPts val="1000"/>
              <a:buFont typeface="Arial"/>
              <a:buNone/>
            </a:pPr>
            <a:r>
              <a:rPr b="1" i="0" lang="en-GB" sz="1000" u="none" cap="none" strike="noStrike">
                <a:solidFill>
                  <a:srgbClr val="1F3864"/>
                </a:solidFill>
                <a:latin typeface="Calibri"/>
                <a:ea typeface="Calibri"/>
                <a:cs typeface="Calibri"/>
                <a:sym typeface="Calibri"/>
              </a:rPr>
              <a:t>Disclosures with respect to Research and Recommendations Services</a:t>
            </a:r>
            <a:endParaRPr b="1" i="0" sz="1000" u="none" cap="none" strike="noStrike">
              <a:solidFill>
                <a:schemeClr val="dk1"/>
              </a:solidFill>
              <a:latin typeface="Calibri"/>
              <a:ea typeface="Calibri"/>
              <a:cs typeface="Calibri"/>
              <a:sym typeface="Calibri"/>
            </a:endParaRPr>
          </a:p>
          <a:p>
            <a:pPr indent="0" lvl="0" marL="200660" marR="343535" rtl="0" algn="just">
              <a:lnSpc>
                <a:spcPct val="100000"/>
              </a:lnSpc>
              <a:spcBef>
                <a:spcPts val="5"/>
              </a:spcBef>
              <a:spcAft>
                <a:spcPts val="0"/>
              </a:spcAft>
              <a:buClr>
                <a:srgbClr val="000000"/>
              </a:buClr>
              <a:buSzPts val="1000"/>
              <a:buFont typeface="Arial"/>
              <a:buNone/>
            </a:pPr>
            <a:r>
              <a:rPr b="0" i="0" lang="en-GB" sz="1000" u="none" cap="none" strike="noStrike">
                <a:solidFill>
                  <a:schemeClr val="dk1"/>
                </a:solidFill>
                <a:latin typeface="Calibri"/>
                <a:ea typeface="Calibri"/>
                <a:cs typeface="Calibri"/>
                <a:sym typeface="Calibri"/>
              </a:rPr>
              <a:t>·Research Analyst may have financial interest or actual / beneficial ownership in the securities recommended in its personal portfolio. Details of the same may be referred through the disclosures made at the time of recommendation.</a:t>
            </a:r>
            <a:endParaRPr b="0" i="0" sz="1000" u="none" cap="none" strike="noStrike">
              <a:solidFill>
                <a:schemeClr val="dk1"/>
              </a:solidFill>
              <a:latin typeface="Calibri"/>
              <a:ea typeface="Calibri"/>
              <a:cs typeface="Calibri"/>
              <a:sym typeface="Calibri"/>
            </a:endParaRPr>
          </a:p>
          <a:p>
            <a:pPr indent="0" lvl="0" marL="200660" marR="305435" rtl="0" algn="just">
              <a:lnSpc>
                <a:spcPct val="98750"/>
              </a:lnSpc>
              <a:spcBef>
                <a:spcPts val="10"/>
              </a:spcBef>
              <a:spcAft>
                <a:spcPts val="0"/>
              </a:spcAft>
              <a:buClr>
                <a:srgbClr val="000000"/>
              </a:buClr>
              <a:buSzPts val="1000"/>
              <a:buFont typeface="Arial"/>
              <a:buNone/>
            </a:pPr>
            <a:r>
              <a:rPr b="0" i="0" lang="en-GB" sz="1000" u="none" cap="none" strike="noStrike">
                <a:solidFill>
                  <a:schemeClr val="dk1"/>
                </a:solidFill>
                <a:latin typeface="Calibri"/>
                <a:ea typeface="Calibri"/>
                <a:cs typeface="Calibri"/>
                <a:sym typeface="Calibri"/>
              </a:rPr>
              <a:t>·There are no actual or potential conflicts of interest arising from any connection to or association with any issuer of products/ securities, including any material information or facts that might compromise its objectivity independence in the carrying on of Research Analyst services. Such conflict of interest shall be disclosed to the client as and when they arise.</a:t>
            </a:r>
            <a:endParaRPr b="0" i="0" sz="1000" u="none" cap="none" strike="noStrike">
              <a:solidFill>
                <a:schemeClr val="dk1"/>
              </a:solidFill>
              <a:latin typeface="Calibri"/>
              <a:ea typeface="Calibri"/>
              <a:cs typeface="Calibri"/>
              <a:sym typeface="Calibri"/>
            </a:endParaRPr>
          </a:p>
          <a:p>
            <a:pPr indent="0" lvl="0" marL="200660" marR="0" rtl="0" algn="just">
              <a:lnSpc>
                <a:spcPct val="100000"/>
              </a:lnSpc>
              <a:spcBef>
                <a:spcPts val="10"/>
              </a:spcBef>
              <a:spcAft>
                <a:spcPts val="0"/>
              </a:spcAft>
              <a:buClr>
                <a:srgbClr val="000000"/>
              </a:buClr>
              <a:buSzPts val="1000"/>
              <a:buFont typeface="Arial"/>
              <a:buNone/>
            </a:pPr>
            <a:r>
              <a:rPr b="0" i="0" lang="en-GB" sz="1000" u="none" cap="none" strike="noStrike">
                <a:solidFill>
                  <a:schemeClr val="dk1"/>
                </a:solidFill>
                <a:latin typeface="Calibri"/>
                <a:ea typeface="Calibri"/>
                <a:cs typeface="Calibri"/>
                <a:sym typeface="Calibri"/>
              </a:rPr>
              <a:t>·Research Analyst or its employee or its associates have not received any compensation from the company in past 12 months.</a:t>
            </a:r>
            <a:endParaRPr b="0" i="0" sz="1000" u="none" cap="none" strike="noStrike">
              <a:solidFill>
                <a:schemeClr val="dk1"/>
              </a:solidFill>
              <a:latin typeface="Calibri"/>
              <a:ea typeface="Calibri"/>
              <a:cs typeface="Calibri"/>
              <a:sym typeface="Calibri"/>
            </a:endParaRPr>
          </a:p>
          <a:p>
            <a:pPr indent="0" lvl="0" marL="200660" marR="241300" rtl="0" algn="just">
              <a:lnSpc>
                <a:spcPct val="100000"/>
              </a:lnSpc>
              <a:spcBef>
                <a:spcPts val="0"/>
              </a:spcBef>
              <a:spcAft>
                <a:spcPts val="0"/>
              </a:spcAft>
              <a:buClr>
                <a:srgbClr val="000000"/>
              </a:buClr>
              <a:buSzPts val="1000"/>
              <a:buFont typeface="Arial"/>
              <a:buNone/>
            </a:pPr>
            <a:r>
              <a:rPr b="0" i="0" lang="en-GB" sz="1000" u="none" cap="none" strike="noStrike">
                <a:solidFill>
                  <a:schemeClr val="dk1"/>
                </a:solidFill>
                <a:latin typeface="Calibri"/>
                <a:ea typeface="Calibri"/>
                <a:cs typeface="Calibri"/>
                <a:sym typeface="Calibri"/>
              </a:rPr>
              <a:t>·Research Analyst or its employee or its associates have not managed or co-managed the public offering of Subject company in past 12 months.</a:t>
            </a:r>
            <a:endParaRPr b="0" i="0" sz="1000" u="none" cap="none" strike="noStrike">
              <a:solidFill>
                <a:schemeClr val="dk1"/>
              </a:solidFill>
              <a:latin typeface="Calibri"/>
              <a:ea typeface="Calibri"/>
              <a:cs typeface="Calibri"/>
              <a:sym typeface="Calibri"/>
            </a:endParaRPr>
          </a:p>
          <a:p>
            <a:pPr indent="0" lvl="0" marL="200660" marR="0" rtl="0" algn="just">
              <a:lnSpc>
                <a:spcPct val="100000"/>
              </a:lnSpc>
              <a:spcBef>
                <a:spcPts val="5"/>
              </a:spcBef>
              <a:spcAft>
                <a:spcPts val="0"/>
              </a:spcAft>
              <a:buClr>
                <a:srgbClr val="000000"/>
              </a:buClr>
              <a:buSzPts val="1000"/>
              <a:buFont typeface="Arial"/>
              <a:buNone/>
            </a:pPr>
            <a:r>
              <a:rPr b="0" i="0" lang="en-GB" sz="1000" u="none" cap="none" strike="noStrike">
                <a:solidFill>
                  <a:schemeClr val="dk1"/>
                </a:solidFill>
                <a:latin typeface="Calibri"/>
                <a:ea typeface="Calibri"/>
                <a:cs typeface="Calibri"/>
                <a:sym typeface="Calibri"/>
              </a:rPr>
              <a:t>·Research Analyst or its employee or its associates have not received any compensation for investment banking or merchant banking of brokerage services from the subject company in past 12 months.</a:t>
            </a:r>
            <a:endParaRPr b="0" i="0" sz="1000" u="none" cap="none" strike="noStrike">
              <a:solidFill>
                <a:schemeClr val="dk1"/>
              </a:solidFill>
              <a:latin typeface="Calibri"/>
              <a:ea typeface="Calibri"/>
              <a:cs typeface="Calibri"/>
              <a:sym typeface="Calibri"/>
            </a:endParaRPr>
          </a:p>
          <a:p>
            <a:pPr indent="0" lvl="0" marL="200660" marR="0" rtl="0" algn="just">
              <a:lnSpc>
                <a:spcPct val="100000"/>
              </a:lnSpc>
              <a:spcBef>
                <a:spcPts val="5"/>
              </a:spcBef>
              <a:spcAft>
                <a:spcPts val="0"/>
              </a:spcAft>
              <a:buClr>
                <a:srgbClr val="000000"/>
              </a:buClr>
              <a:buSzPts val="1000"/>
              <a:buFont typeface="Arial"/>
              <a:buNone/>
            </a:pPr>
            <a:r>
              <a:rPr b="0" i="0" lang="en-GB" sz="1000" u="none" cap="none" strike="noStrike">
                <a:solidFill>
                  <a:schemeClr val="dk1"/>
                </a:solidFill>
                <a:latin typeface="Calibri"/>
                <a:ea typeface="Calibri"/>
                <a:cs typeface="Calibri"/>
                <a:sym typeface="Calibri"/>
              </a:rPr>
              <a:t>·Research Analyst or its employee or its associates have not received any compensation for products or services other than above from the subject company in past 12 months.</a:t>
            </a:r>
            <a:endParaRPr b="0" i="0" sz="1000" u="none" cap="none" strike="noStrike">
              <a:solidFill>
                <a:schemeClr val="dk1"/>
              </a:solidFill>
              <a:latin typeface="Calibri"/>
              <a:ea typeface="Calibri"/>
              <a:cs typeface="Calibri"/>
              <a:sym typeface="Calibri"/>
            </a:endParaRPr>
          </a:p>
          <a:p>
            <a:pPr indent="0" lvl="0" marL="200660" marR="0" rtl="0" algn="just">
              <a:lnSpc>
                <a:spcPct val="100000"/>
              </a:lnSpc>
              <a:spcBef>
                <a:spcPts val="5"/>
              </a:spcBef>
              <a:spcAft>
                <a:spcPts val="0"/>
              </a:spcAft>
              <a:buClr>
                <a:srgbClr val="000000"/>
              </a:buClr>
              <a:buSzPts val="1000"/>
              <a:buFont typeface="Arial"/>
              <a:buNone/>
            </a:pPr>
            <a:r>
              <a:rPr b="0" i="0" lang="en-GB" sz="1000" u="none" cap="none" strike="noStrike">
                <a:solidFill>
                  <a:schemeClr val="dk1"/>
                </a:solidFill>
                <a:latin typeface="Calibri"/>
                <a:ea typeface="Calibri"/>
                <a:cs typeface="Calibri"/>
                <a:sym typeface="Calibri"/>
              </a:rPr>
              <a:t>·Research Analyst or its employee or its associates have not received any compensation or other benefits from the Subject Company or 3rd party in connection with the research report/ recommendation.</a:t>
            </a:r>
            <a:endParaRPr b="0" i="0" sz="1000" u="none" cap="none" strike="noStrike">
              <a:solidFill>
                <a:schemeClr val="dk1"/>
              </a:solidFill>
              <a:latin typeface="Calibri"/>
              <a:ea typeface="Calibri"/>
              <a:cs typeface="Calibri"/>
              <a:sym typeface="Calibri"/>
            </a:endParaRPr>
          </a:p>
          <a:p>
            <a:pPr indent="0" lvl="0" marL="200660" marR="0" rtl="0" algn="just">
              <a:lnSpc>
                <a:spcPct val="100000"/>
              </a:lnSpc>
              <a:spcBef>
                <a:spcPts val="5"/>
              </a:spcBef>
              <a:spcAft>
                <a:spcPts val="0"/>
              </a:spcAft>
              <a:buClr>
                <a:srgbClr val="000000"/>
              </a:buClr>
              <a:buSzPts val="1000"/>
              <a:buFont typeface="Arial"/>
              <a:buNone/>
            </a:pPr>
            <a:r>
              <a:rPr b="0" i="0" lang="en-GB" sz="1000" u="none" cap="none" strike="noStrike">
                <a:solidFill>
                  <a:schemeClr val="dk1"/>
                </a:solidFill>
                <a:latin typeface="Calibri"/>
                <a:ea typeface="Calibri"/>
                <a:cs typeface="Calibri"/>
                <a:sym typeface="Calibri"/>
              </a:rPr>
              <a:t>·The subject company was not a client of Research Analyst or its employee or its associates during twelve months preceding the date of distribution of the research report and recommendation services provided.</a:t>
            </a:r>
            <a:endParaRPr b="0" i="0" sz="1000" u="none" cap="none" strike="noStrike">
              <a:solidFill>
                <a:schemeClr val="dk1"/>
              </a:solidFill>
              <a:latin typeface="Calibri"/>
              <a:ea typeface="Calibri"/>
              <a:cs typeface="Calibri"/>
              <a:sym typeface="Calibri"/>
            </a:endParaRPr>
          </a:p>
          <a:p>
            <a:pPr indent="0" lvl="0" marL="200660" marR="0" rtl="0" algn="just">
              <a:lnSpc>
                <a:spcPct val="100000"/>
              </a:lnSpc>
              <a:spcBef>
                <a:spcPts val="5"/>
              </a:spcBef>
              <a:spcAft>
                <a:spcPts val="0"/>
              </a:spcAft>
              <a:buClr>
                <a:srgbClr val="000000"/>
              </a:buClr>
              <a:buSzPts val="1000"/>
              <a:buFont typeface="Arial"/>
              <a:buNone/>
            </a:pPr>
            <a:r>
              <a:rPr b="0" i="0" lang="en-GB" sz="1000" u="none" cap="none" strike="noStrike">
                <a:solidFill>
                  <a:schemeClr val="dk1"/>
                </a:solidFill>
                <a:latin typeface="Calibri"/>
                <a:ea typeface="Calibri"/>
                <a:cs typeface="Calibri"/>
                <a:sym typeface="Calibri"/>
              </a:rPr>
              <a:t>·Research Analysts or its employee or its associates has not served as an officer, director, or employee of the subject company</a:t>
            </a:r>
            <a:endParaRPr b="0" i="0" sz="1000" u="none" cap="none" strike="noStrike">
              <a:solidFill>
                <a:schemeClr val="dk1"/>
              </a:solidFill>
              <a:latin typeface="Calibri"/>
              <a:ea typeface="Calibri"/>
              <a:cs typeface="Calibri"/>
              <a:sym typeface="Calibri"/>
            </a:endParaRPr>
          </a:p>
          <a:p>
            <a:pPr indent="0" lvl="0" marL="200660" marR="0" rtl="0" algn="just">
              <a:lnSpc>
                <a:spcPct val="100000"/>
              </a:lnSpc>
              <a:spcBef>
                <a:spcPts val="5"/>
              </a:spcBef>
              <a:spcAft>
                <a:spcPts val="0"/>
              </a:spcAft>
              <a:buClr>
                <a:srgbClr val="000000"/>
              </a:buClr>
              <a:buSzPts val="1000"/>
              <a:buFont typeface="Arial"/>
              <a:buNone/>
            </a:pPr>
            <a:r>
              <a:rPr b="0" i="0" lang="en-GB" sz="1000" u="none" cap="none" strike="noStrike">
                <a:solidFill>
                  <a:schemeClr val="dk1"/>
                </a:solidFill>
                <a:latin typeface="Calibri"/>
                <a:ea typeface="Calibri"/>
                <a:cs typeface="Calibri"/>
                <a:sym typeface="Calibri"/>
              </a:rPr>
              <a:t>·Registration granted by SEBI, membership of BASL and certification from NISM in no way guarantee performance of the Intermediary or provide any assurance of returns to investors.</a:t>
            </a:r>
            <a:endParaRPr b="0" i="0" sz="1000" u="none" cap="none" strike="noStrike">
              <a:solidFill>
                <a:schemeClr val="dk1"/>
              </a:solidFill>
              <a:latin typeface="Calibri"/>
              <a:ea typeface="Calibri"/>
              <a:cs typeface="Calibri"/>
              <a:sym typeface="Calibri"/>
            </a:endParaRPr>
          </a:p>
          <a:p>
            <a:pPr indent="0" lvl="0" marL="200660" marR="0" rtl="0" algn="just">
              <a:lnSpc>
                <a:spcPct val="100000"/>
              </a:lnSpc>
              <a:spcBef>
                <a:spcPts val="0"/>
              </a:spcBef>
              <a:spcAft>
                <a:spcPts val="0"/>
              </a:spcAft>
              <a:buClr>
                <a:srgbClr val="000000"/>
              </a:buClr>
              <a:buSzPts val="1000"/>
              <a:buFont typeface="Arial"/>
              <a:buNone/>
            </a:pPr>
            <a:r>
              <a:rPr b="0" i="0" lang="en-GB" sz="1000" u="none" cap="none" strike="noStrike">
                <a:solidFill>
                  <a:schemeClr val="dk1"/>
                </a:solidFill>
                <a:latin typeface="Calibri"/>
                <a:ea typeface="Calibri"/>
                <a:cs typeface="Calibri"/>
                <a:sym typeface="Calibri"/>
              </a:rPr>
              <a:t>·Investment in securities market are subject to market risks. Read all the related documents carefully before investing</a:t>
            </a:r>
            <a:endParaRPr b="0" i="0" sz="1000" u="none" cap="none" strike="noStrike">
              <a:solidFill>
                <a:schemeClr val="dk1"/>
              </a:solidFill>
              <a:latin typeface="Calibri"/>
              <a:ea typeface="Calibri"/>
              <a:cs typeface="Calibri"/>
              <a:sym typeface="Calibri"/>
            </a:endParaRPr>
          </a:p>
          <a:p>
            <a:pPr indent="0" lvl="0" marL="200660" marR="0" rtl="0" algn="just">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a:p>
            <a:pPr indent="0" lvl="0" marL="200660" marR="0" rtl="0" algn="just">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p:txBody>
      </p:sp>
      <p:pic>
        <p:nvPicPr>
          <p:cNvPr descr="A picture containing text, whiteboard&#10;&#10;Description automatically generated" id="152" name="Google Shape;152;p27"/>
          <p:cNvPicPr preferRelativeResize="0"/>
          <p:nvPr/>
        </p:nvPicPr>
        <p:blipFill rotWithShape="1">
          <a:blip r:embed="rId3">
            <a:alphaModFix/>
          </a:blip>
          <a:srcRect b="0" l="0" r="0" t="0"/>
          <a:stretch/>
        </p:blipFill>
        <p:spPr>
          <a:xfrm>
            <a:off x="7927191" y="4243438"/>
            <a:ext cx="855125" cy="4918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