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 name="Google Shape;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 name="Google Shape;6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 name="Google Shape;84;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 name="Google Shape;9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 name="Google Shape;9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2" name="Google Shape;102;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 name="Google Shape;114;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0" name="Google Shape;120;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 name="Google Shape;132;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2" name="Google Shape;142;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8" name="Google Shape;148;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13" name="Shape 13"/>
        <p:cNvGrpSpPr/>
        <p:nvPr/>
      </p:nvGrpSpPr>
      <p:grpSpPr>
        <a:xfrm>
          <a:off x="0" y="0"/>
          <a:ext cx="0" cy="0"/>
          <a:chOff x="0" y="0"/>
          <a:chExt cx="0" cy="0"/>
        </a:xfrm>
      </p:grpSpPr>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15" name="Google Shape;15;p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16" name="Google Shape;16;p3"/>
          <p:cNvCxnSpPr/>
          <p:nvPr/>
        </p:nvCxnSpPr>
        <p:spPr>
          <a:xfrm>
            <a:off x="4563000" y="591725"/>
            <a:ext cx="27000" cy="4179000"/>
          </a:xfrm>
          <a:prstGeom prst="straightConnector1">
            <a:avLst/>
          </a:prstGeom>
          <a:noFill/>
          <a:ln cap="flat" cmpd="sng" w="9525">
            <a:solidFill>
              <a:srgbClr val="FFA500"/>
            </a:solidFill>
            <a:prstDash val="solid"/>
            <a:round/>
            <a:headEnd len="sm" w="sm" type="none"/>
            <a:tailEnd len="sm" w="sm" type="none"/>
          </a:ln>
        </p:spPr>
      </p:cxnSp>
      <p:sp>
        <p:nvSpPr>
          <p:cNvPr id="17" name="Google Shape;17;p3"/>
          <p:cNvSpPr txBox="1"/>
          <p:nvPr>
            <p:ph idx="2" type="title"/>
          </p:nvPr>
        </p:nvSpPr>
        <p:spPr>
          <a:xfrm>
            <a:off x="55450" y="591725"/>
            <a:ext cx="4454100" cy="4179000"/>
          </a:xfrm>
          <a:prstGeom prst="rect">
            <a:avLst/>
          </a:prstGeom>
          <a:solidFill>
            <a:srgbClr val="FFE5B4"/>
          </a:solid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1800"/>
              <a:buFont typeface="Calibri"/>
              <a:buNone/>
              <a:defRPr sz="1800">
                <a:latin typeface="Calibri"/>
                <a:ea typeface="Calibri"/>
                <a:cs typeface="Calibri"/>
                <a:sym typeface="Calibri"/>
              </a:defRPr>
            </a:lvl1pPr>
            <a:lvl2pPr lvl="1" algn="l">
              <a:lnSpc>
                <a:spcPct val="100000"/>
              </a:lnSpc>
              <a:spcBef>
                <a:spcPts val="0"/>
              </a:spcBef>
              <a:spcAft>
                <a:spcPts val="0"/>
              </a:spcAft>
              <a:buSzPts val="1800"/>
              <a:buFont typeface="Calibri"/>
              <a:buNone/>
              <a:defRPr sz="1800">
                <a:latin typeface="Calibri"/>
                <a:ea typeface="Calibri"/>
                <a:cs typeface="Calibri"/>
                <a:sym typeface="Calibri"/>
              </a:defRPr>
            </a:lvl2pPr>
            <a:lvl3pPr lvl="2" algn="l">
              <a:lnSpc>
                <a:spcPct val="100000"/>
              </a:lnSpc>
              <a:spcBef>
                <a:spcPts val="0"/>
              </a:spcBef>
              <a:spcAft>
                <a:spcPts val="0"/>
              </a:spcAft>
              <a:buSzPts val="1800"/>
              <a:buFont typeface="Calibri"/>
              <a:buNone/>
              <a:defRPr sz="1800">
                <a:latin typeface="Calibri"/>
                <a:ea typeface="Calibri"/>
                <a:cs typeface="Calibri"/>
                <a:sym typeface="Calibri"/>
              </a:defRPr>
            </a:lvl3pPr>
            <a:lvl4pPr lvl="3" algn="l">
              <a:lnSpc>
                <a:spcPct val="100000"/>
              </a:lnSpc>
              <a:spcBef>
                <a:spcPts val="0"/>
              </a:spcBef>
              <a:spcAft>
                <a:spcPts val="0"/>
              </a:spcAft>
              <a:buSzPts val="1800"/>
              <a:buFont typeface="Calibri"/>
              <a:buNone/>
              <a:defRPr sz="1800">
                <a:latin typeface="Calibri"/>
                <a:ea typeface="Calibri"/>
                <a:cs typeface="Calibri"/>
                <a:sym typeface="Calibri"/>
              </a:defRPr>
            </a:lvl4pPr>
            <a:lvl5pPr lvl="4" algn="l">
              <a:lnSpc>
                <a:spcPct val="100000"/>
              </a:lnSpc>
              <a:spcBef>
                <a:spcPts val="0"/>
              </a:spcBef>
              <a:spcAft>
                <a:spcPts val="0"/>
              </a:spcAft>
              <a:buSzPts val="1800"/>
              <a:buFont typeface="Calibri"/>
              <a:buNone/>
              <a:defRPr sz="1800">
                <a:latin typeface="Calibri"/>
                <a:ea typeface="Calibri"/>
                <a:cs typeface="Calibri"/>
                <a:sym typeface="Calibri"/>
              </a:defRPr>
            </a:lvl5pPr>
            <a:lvl6pPr lvl="5" algn="l">
              <a:lnSpc>
                <a:spcPct val="100000"/>
              </a:lnSpc>
              <a:spcBef>
                <a:spcPts val="0"/>
              </a:spcBef>
              <a:spcAft>
                <a:spcPts val="0"/>
              </a:spcAft>
              <a:buSzPts val="1800"/>
              <a:buFont typeface="Calibri"/>
              <a:buNone/>
              <a:defRPr sz="1800">
                <a:latin typeface="Calibri"/>
                <a:ea typeface="Calibri"/>
                <a:cs typeface="Calibri"/>
                <a:sym typeface="Calibri"/>
              </a:defRPr>
            </a:lvl6pPr>
            <a:lvl7pPr lvl="6" algn="l">
              <a:lnSpc>
                <a:spcPct val="100000"/>
              </a:lnSpc>
              <a:spcBef>
                <a:spcPts val="0"/>
              </a:spcBef>
              <a:spcAft>
                <a:spcPts val="0"/>
              </a:spcAft>
              <a:buSzPts val="1800"/>
              <a:buFont typeface="Calibri"/>
              <a:buNone/>
              <a:defRPr sz="1800">
                <a:latin typeface="Calibri"/>
                <a:ea typeface="Calibri"/>
                <a:cs typeface="Calibri"/>
                <a:sym typeface="Calibri"/>
              </a:defRPr>
            </a:lvl7pPr>
            <a:lvl8pPr lvl="7" algn="l">
              <a:lnSpc>
                <a:spcPct val="100000"/>
              </a:lnSpc>
              <a:spcBef>
                <a:spcPts val="0"/>
              </a:spcBef>
              <a:spcAft>
                <a:spcPts val="0"/>
              </a:spcAft>
              <a:buSzPts val="1800"/>
              <a:buFont typeface="Calibri"/>
              <a:buNone/>
              <a:defRPr sz="1800">
                <a:latin typeface="Calibri"/>
                <a:ea typeface="Calibri"/>
                <a:cs typeface="Calibri"/>
                <a:sym typeface="Calibri"/>
              </a:defRPr>
            </a:lvl8pPr>
            <a:lvl9pPr lvl="8" algn="l">
              <a:lnSpc>
                <a:spcPct val="100000"/>
              </a:lnSpc>
              <a:spcBef>
                <a:spcPts val="0"/>
              </a:spcBef>
              <a:spcAft>
                <a:spcPts val="0"/>
              </a:spcAft>
              <a:buSzPts val="1800"/>
              <a:buFont typeface="Calibri"/>
              <a:buNone/>
              <a:defRPr sz="1800">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20" name="Google Shape;20;p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1" name="Shape 21"/>
        <p:cNvGrpSpPr/>
        <p:nvPr/>
      </p:nvGrpSpPr>
      <p:grpSpPr>
        <a:xfrm>
          <a:off x="0" y="0"/>
          <a:ext cx="0" cy="0"/>
          <a:chOff x="0" y="0"/>
          <a:chExt cx="0" cy="0"/>
        </a:xfrm>
      </p:grpSpPr>
      <p:sp>
        <p:nvSpPr>
          <p:cNvPr id="22" name="Google Shape;22;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
        <p:nvSpPr>
          <p:cNvPr id="23" name="Google Shape;23;p5"/>
          <p:cNvSpPr txBox="1"/>
          <p:nvPr>
            <p:ph type="title"/>
          </p:nvPr>
        </p:nvSpPr>
        <p:spPr>
          <a:xfrm>
            <a:off x="4662275" y="0"/>
            <a:ext cx="44817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sp>
        <p:nvSpPr>
          <p:cNvPr id="24" name="Google Shape;24;p5"/>
          <p:cNvSpPr txBox="1"/>
          <p:nvPr>
            <p:ph idx="2" type="title"/>
          </p:nvPr>
        </p:nvSpPr>
        <p:spPr>
          <a:xfrm>
            <a:off x="0" y="0"/>
            <a:ext cx="4428300" cy="575700"/>
          </a:xfrm>
          <a:prstGeom prst="rect">
            <a:avLst/>
          </a:prstGeom>
          <a:solidFill>
            <a:srgbClr val="1F4690"/>
          </a:solid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b="1" sz="2200">
                <a:solidFill>
                  <a:schemeClr val="lt1"/>
                </a:solidFill>
                <a:latin typeface="Calibri"/>
                <a:ea typeface="Calibri"/>
                <a:cs typeface="Calibri"/>
                <a:sym typeface="Calibri"/>
              </a:defRPr>
            </a:lvl9pPr>
          </a:lstStyle>
          <a:p/>
        </p:txBody>
      </p:sp>
      <p:cxnSp>
        <p:nvCxnSpPr>
          <p:cNvPr id="25" name="Google Shape;25;p5"/>
          <p:cNvCxnSpPr/>
          <p:nvPr/>
        </p:nvCxnSpPr>
        <p:spPr>
          <a:xfrm>
            <a:off x="4533925" y="94425"/>
            <a:ext cx="24000" cy="4852500"/>
          </a:xfrm>
          <a:prstGeom prst="straightConnector1">
            <a:avLst/>
          </a:prstGeom>
          <a:noFill/>
          <a:ln cap="flat" cmpd="sng" w="9525">
            <a:solidFill>
              <a:srgbClr val="FFA500"/>
            </a:solidFill>
            <a:prstDash val="solid"/>
            <a:round/>
            <a:headEnd len="sm" w="sm" type="none"/>
            <a:tailEnd len="sm" w="sm"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6" name="Shape 26"/>
        <p:cNvGrpSpPr/>
        <p:nvPr/>
      </p:nvGrpSpPr>
      <p:grpSpPr>
        <a:xfrm>
          <a:off x="0" y="0"/>
          <a:ext cx="0" cy="0"/>
          <a:chOff x="0" y="0"/>
          <a:chExt cx="0" cy="0"/>
        </a:xfrm>
      </p:grpSpPr>
      <p:sp>
        <p:nvSpPr>
          <p:cNvPr id="27" name="Google Shape;27;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8" name="Google Shape;28;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9" name="Google Shape;29;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0" name="Google Shape;30;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1" name="Shape 31"/>
        <p:cNvGrpSpPr/>
        <p:nvPr/>
      </p:nvGrpSpPr>
      <p:grpSpPr>
        <a:xfrm>
          <a:off x="0" y="0"/>
          <a:ext cx="0" cy="0"/>
          <a:chOff x="0" y="0"/>
          <a:chExt cx="0" cy="0"/>
        </a:xfrm>
      </p:grpSpPr>
      <p:sp>
        <p:nvSpPr>
          <p:cNvPr id="32" name="Google Shape;32;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3" name="Google Shape;33;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8"/>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9"/>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0"/>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1"/>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1"/>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9.xml"/><Relationship Id="rId10" Type="http://schemas.openxmlformats.org/officeDocument/2006/relationships/slideLayout" Target="../slideLayouts/slideLayout8.xml"/><Relationship Id="rId13" Type="http://schemas.openxmlformats.org/officeDocument/2006/relationships/theme" Target="../theme/theme2.xml"/><Relationship Id="rId12" Type="http://schemas.openxmlformats.org/officeDocument/2006/relationships/slideLayout" Target="../slideLayouts/slideLayout10.xml"/><Relationship Id="rId1" Type="http://schemas.openxmlformats.org/officeDocument/2006/relationships/image" Target="../media/image2.png"/><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9" Type="http://schemas.openxmlformats.org/officeDocument/2006/relationships/slideLayout" Target="../slideLayouts/slideLayout7.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
            <a:alphaModFix/>
          </a:blip>
          <a:srcRect b="0" l="0" r="0" t="0"/>
          <a:stretch/>
        </p:blipFill>
        <p:spPr>
          <a:xfrm>
            <a:off x="0" y="4865050"/>
            <a:ext cx="1120900" cy="278450"/>
          </a:xfrm>
          <a:prstGeom prst="rect">
            <a:avLst/>
          </a:prstGeom>
          <a:noFill/>
          <a:ln cap="flat" cmpd="sng" w="9525">
            <a:solidFill>
              <a:srgbClr val="1F4690"/>
            </a:solidFill>
            <a:prstDash val="solid"/>
            <a:round/>
            <a:headEnd len="sm" w="sm" type="none"/>
            <a:tailEnd len="sm" w="sm" type="none"/>
          </a:ln>
        </p:spPr>
      </p:pic>
      <p:sp>
        <p:nvSpPr>
          <p:cNvPr id="10" name="Google Shape;10;p1"/>
          <p:cNvSpPr/>
          <p:nvPr/>
        </p:nvSpPr>
        <p:spPr>
          <a:xfrm>
            <a:off x="1448233" y="2065194"/>
            <a:ext cx="6247534" cy="1374198"/>
          </a:xfrm>
          <a:prstGeom prst="rect">
            <a:avLst/>
          </a:prstGeom>
          <a:blipFill rotWithShape="1">
            <a:blip r:embed="rId2">
              <a:alphaModFix amt="20000"/>
            </a:blip>
            <a:stretch>
              <a:fillRect b="0" l="0" r="0" t="0"/>
            </a:stretch>
          </a:blipFill>
          <a:ln cap="flat" cmpd="sng" w="254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2"/>
          <p:cNvSpPr txBox="1"/>
          <p:nvPr>
            <p:ph idx="4294967295" type="ctrTitle"/>
          </p:nvPr>
        </p:nvSpPr>
        <p:spPr>
          <a:xfrm>
            <a:off x="311700" y="139700"/>
            <a:ext cx="8520600" cy="2052600"/>
          </a:xfrm>
          <a:prstGeom prst="rect">
            <a:avLst/>
          </a:prstGeom>
          <a:solidFill>
            <a:srgbClr val="1F4690"/>
          </a:solidFill>
          <a:ln>
            <a:noFill/>
          </a:ln>
        </p:spPr>
        <p:txBody>
          <a:bodyPr anchorCtr="0" anchor="ctr" bIns="91425" lIns="91425" spcFirstLastPara="1" rIns="91425" wrap="square" tIns="91425">
            <a:normAutofit/>
          </a:bodyPr>
          <a:lstStyle/>
          <a:p>
            <a:pPr indent="0" lvl="0" marL="0" marR="0" rtl="0" algn="ctr">
              <a:lnSpc>
                <a:spcPct val="100000"/>
              </a:lnSpc>
              <a:spcBef>
                <a:spcPts val="0"/>
              </a:spcBef>
              <a:spcAft>
                <a:spcPts val="0"/>
              </a:spcAft>
              <a:buClr>
                <a:schemeClr val="dk1"/>
              </a:buClr>
              <a:buSzPts val="2800"/>
              <a:buFont typeface="Arial"/>
              <a:buNone/>
            </a:pPr>
            <a:r>
              <a:rPr b="1" i="0" lang="en-GB" sz="3500" u="none" cap="none" strike="noStrike">
                <a:solidFill>
                  <a:schemeClr val="lt1"/>
                </a:solidFill>
                <a:latin typeface="Calibri"/>
                <a:ea typeface="Calibri"/>
                <a:cs typeface="Calibri"/>
                <a:sym typeface="Calibri"/>
              </a:rPr>
              <a:t>{{company_name}}</a:t>
            </a:r>
            <a:endParaRPr b="1" i="0" sz="3500" u="none" cap="none" strike="noStrike">
              <a:solidFill>
                <a:schemeClr val="lt1"/>
              </a:solidFill>
              <a:latin typeface="Calibri"/>
              <a:ea typeface="Calibri"/>
              <a:cs typeface="Calibri"/>
              <a:sym typeface="Calibri"/>
            </a:endParaRPr>
          </a:p>
        </p:txBody>
      </p:sp>
      <p:sp>
        <p:nvSpPr>
          <p:cNvPr id="55" name="Google Shape;55;p12"/>
          <p:cNvSpPr txBox="1"/>
          <p:nvPr>
            <p:ph idx="4294967295" type="subTitle"/>
          </p:nvPr>
        </p:nvSpPr>
        <p:spPr>
          <a:xfrm>
            <a:off x="311700" y="3395424"/>
            <a:ext cx="8520600" cy="1367076"/>
          </a:xfrm>
          <a:prstGeom prst="rect">
            <a:avLst/>
          </a:prstGeom>
          <a:solidFill>
            <a:schemeClr val="lt1"/>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rmAutofit/>
          </a:bodyPr>
          <a:lstStyle/>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NSE: </a:t>
            </a:r>
            <a:r>
              <a:rPr i="0" lang="en-GB" sz="1400" u="none" cap="none" strike="noStrike">
                <a:solidFill>
                  <a:schemeClr val="dk1"/>
                </a:solidFill>
                <a:latin typeface="Calibri"/>
                <a:ea typeface="Calibri"/>
                <a:cs typeface="Calibri"/>
                <a:sym typeface="Calibri"/>
              </a:rPr>
              <a:t>{{nse_symbol}}</a:t>
            </a:r>
            <a:r>
              <a:rPr b="1" i="0" lang="en-GB" sz="1400" u="none" cap="none" strike="noStrike">
                <a:solidFill>
                  <a:schemeClr val="dk1"/>
                </a:solidFill>
                <a:latin typeface="Calibri"/>
                <a:ea typeface="Calibri"/>
                <a:cs typeface="Calibri"/>
                <a:sym typeface="Calibri"/>
              </a:rPr>
              <a:t> | BOM: </a:t>
            </a:r>
            <a:r>
              <a:rPr i="0" lang="en-GB" sz="1400" u="none" cap="none" strike="noStrike">
                <a:solidFill>
                  <a:schemeClr val="dk1"/>
                </a:solidFill>
                <a:latin typeface="Calibri"/>
                <a:ea typeface="Calibri"/>
                <a:cs typeface="Calibri"/>
                <a:sym typeface="Calibri"/>
              </a:rPr>
              <a:t>{{bom_code}}</a:t>
            </a:r>
            <a:r>
              <a:rPr b="1" i="0" lang="en-GB" sz="1400" u="none" cap="none" strike="noStrike">
                <a:solidFill>
                  <a:schemeClr val="dk1"/>
                </a:solidFill>
                <a:latin typeface="Calibri"/>
                <a:ea typeface="Calibri"/>
                <a:cs typeface="Calibri"/>
                <a:sym typeface="Calibri"/>
              </a:rPr>
              <a:t> | Rating: </a:t>
            </a:r>
            <a:r>
              <a:rPr i="0" lang="en-GB" sz="1400" u="none" cap="none" strike="noStrike">
                <a:solidFill>
                  <a:schemeClr val="dk1"/>
                </a:solidFill>
                <a:latin typeface="Calibri"/>
                <a:ea typeface="Calibri"/>
                <a:cs typeface="Calibri"/>
                <a:sym typeface="Calibri"/>
              </a:rPr>
              <a:t>{{</a:t>
            </a:r>
            <a:r>
              <a:rPr lang="en-GB" sz="1400">
                <a:solidFill>
                  <a:schemeClr val="dk1"/>
                </a:solidFill>
                <a:latin typeface="Calibri"/>
                <a:ea typeface="Calibri"/>
                <a:cs typeface="Calibri"/>
                <a:sym typeface="Calibri"/>
              </a:rPr>
              <a:t>rating</a:t>
            </a:r>
            <a:r>
              <a:rPr i="0" lang="en-GB" sz="1400" u="none" cap="none" strike="noStrike">
                <a:solidFill>
                  <a:schemeClr val="dk1"/>
                </a:solidFill>
                <a:latin typeface="Calibri"/>
                <a:ea typeface="Calibri"/>
                <a:cs typeface="Calibri"/>
                <a:sym typeface="Calibri"/>
              </a:rPr>
              <a:t>}} </a:t>
            </a:r>
            <a:endParaRPr sz="1400">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Market Cap: </a:t>
            </a:r>
            <a:r>
              <a:rPr i="0" lang="en-GB" sz="1400" u="none" cap="none" strike="noStrike">
                <a:solidFill>
                  <a:schemeClr val="dk1"/>
                </a:solidFill>
                <a:latin typeface="Calibri"/>
                <a:ea typeface="Calibri"/>
                <a:cs typeface="Calibri"/>
                <a:sym typeface="Calibri"/>
              </a:rPr>
              <a:t>₹{{market_cap}} Cr</a:t>
            </a:r>
            <a:r>
              <a:rPr b="1" i="0" lang="en-GB" sz="1400" u="none" cap="none" strike="noStrike">
                <a:solidFill>
                  <a:schemeClr val="dk1"/>
                </a:solidFill>
                <a:latin typeface="Calibri"/>
                <a:ea typeface="Calibri"/>
                <a:cs typeface="Calibri"/>
                <a:sym typeface="Calibri"/>
              </a:rPr>
              <a:t>|Market Cap Category: </a:t>
            </a:r>
            <a:r>
              <a:rPr i="0" lang="en-GB" sz="1400" u="none" cap="none" strike="noStrike">
                <a:solidFill>
                  <a:schemeClr val="dk1"/>
                </a:solidFill>
                <a:latin typeface="Calibri"/>
                <a:ea typeface="Calibri"/>
                <a:cs typeface="Calibri"/>
                <a:sym typeface="Calibri"/>
              </a:rPr>
              <a:t>{{market_cap_category}}</a:t>
            </a:r>
            <a:r>
              <a:rPr b="1" i="0" lang="en-GB" sz="1400" u="none" cap="none" strike="noStrike">
                <a:solidFill>
                  <a:schemeClr val="dk1"/>
                </a:solidFill>
                <a:latin typeface="Calibri"/>
                <a:ea typeface="Calibri"/>
                <a:cs typeface="Calibri"/>
                <a:sym typeface="Calibri"/>
              </a:rPr>
              <a:t>|CMP: </a:t>
            </a:r>
            <a:r>
              <a:rPr i="0" lang="en-GB" sz="1400" u="none" cap="none" strike="noStrike">
                <a:solidFill>
                  <a:schemeClr val="dk1"/>
                </a:solidFill>
                <a:latin typeface="Calibri"/>
                <a:ea typeface="Calibri"/>
                <a:cs typeface="Calibri"/>
                <a:sym typeface="Calibri"/>
              </a:rPr>
              <a:t>₹{{current_market_price}}</a:t>
            </a:r>
            <a:endParaRPr i="0" sz="1400" u="none" cap="none" strike="noStrike">
              <a:solidFill>
                <a:schemeClr val="dk1"/>
              </a:solidFill>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Target Price: </a:t>
            </a:r>
            <a:r>
              <a:rPr i="0" lang="en-GB" sz="1400" u="none" cap="none" strike="noStrike">
                <a:solidFill>
                  <a:schemeClr val="dk1"/>
                </a:solidFill>
                <a:latin typeface="Calibri"/>
                <a:ea typeface="Calibri"/>
                <a:cs typeface="Calibri"/>
                <a:sym typeface="Calibri"/>
              </a:rPr>
              <a:t>₹{{target_price}}</a:t>
            </a:r>
            <a:r>
              <a:rPr b="1" i="0" lang="en-GB" sz="1400" u="none" cap="none" strike="noStrike">
                <a:solidFill>
                  <a:schemeClr val="dk1"/>
                </a:solidFill>
                <a:latin typeface="Calibri"/>
                <a:ea typeface="Calibri"/>
                <a:cs typeface="Calibri"/>
                <a:sym typeface="Calibri"/>
              </a:rPr>
              <a:t>|Upside: </a:t>
            </a:r>
            <a:r>
              <a:rPr i="0" lang="en-GB" sz="1400" u="none" cap="none" strike="noStrike">
                <a:solidFill>
                  <a:schemeClr val="dk1"/>
                </a:solidFill>
                <a:latin typeface="Calibri"/>
                <a:ea typeface="Calibri"/>
                <a:cs typeface="Calibri"/>
                <a:sym typeface="Calibri"/>
              </a:rPr>
              <a:t>{{upside_percentage}}</a:t>
            </a:r>
            <a:endParaRPr sz="1400">
              <a:latin typeface="Calibri"/>
              <a:ea typeface="Calibri"/>
              <a:cs typeface="Calibri"/>
              <a:sym typeface="Calibri"/>
            </a:endParaRPr>
          </a:p>
          <a:p>
            <a:pPr indent="0" lvl="0" marL="0" marR="0" rtl="0" algn="ctr">
              <a:lnSpc>
                <a:spcPct val="95000"/>
              </a:lnSpc>
              <a:spcBef>
                <a:spcPts val="0"/>
              </a:spcBef>
              <a:spcAft>
                <a:spcPts val="0"/>
              </a:spcAft>
              <a:buClr>
                <a:schemeClr val="dk2"/>
              </a:buClr>
              <a:buSzPts val="744"/>
              <a:buFont typeface="Arial"/>
              <a:buNone/>
            </a:pPr>
            <a:r>
              <a:rPr b="1" i="0" lang="en-GB" sz="1400" u="none" cap="none" strike="noStrike">
                <a:solidFill>
                  <a:schemeClr val="dk1"/>
                </a:solidFill>
                <a:latin typeface="Calibri"/>
                <a:ea typeface="Calibri"/>
                <a:cs typeface="Calibri"/>
                <a:sym typeface="Calibri"/>
              </a:rPr>
              <a:t>Date: </a:t>
            </a:r>
            <a:r>
              <a:rPr i="0" lang="en-GB" sz="1400" u="none" cap="none" strike="noStrike">
                <a:solidFill>
                  <a:schemeClr val="dk1"/>
                </a:solidFill>
                <a:latin typeface="Calibri"/>
                <a:ea typeface="Calibri"/>
                <a:cs typeface="Calibri"/>
                <a:sym typeface="Calibri"/>
              </a:rPr>
              <a:t>{{today_date}}</a:t>
            </a:r>
            <a:endParaRPr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Company Insider</a:t>
            </a:r>
            <a:endParaRPr/>
          </a:p>
        </p:txBody>
      </p:sp>
      <p:sp>
        <p:nvSpPr>
          <p:cNvPr id="61" name="Google Shape;61;p13"/>
          <p:cNvSpPr txBox="1"/>
          <p:nvPr/>
        </p:nvSpPr>
        <p:spPr>
          <a:xfrm>
            <a:off x="6001103" y="3409245"/>
            <a:ext cx="188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{{financial_table}}</a:t>
            </a:r>
            <a:endParaRPr i="0" sz="1200" u="none" cap="none" strike="noStrike">
              <a:solidFill>
                <a:srgbClr val="000000"/>
              </a:solidFill>
              <a:latin typeface="Calibri"/>
              <a:ea typeface="Calibri"/>
              <a:cs typeface="Calibri"/>
              <a:sym typeface="Calibri"/>
            </a:endParaRPr>
          </a:p>
        </p:txBody>
      </p:sp>
      <p:sp>
        <p:nvSpPr>
          <p:cNvPr id="62" name="Google Shape;62;p13"/>
          <p:cNvSpPr txBox="1"/>
          <p:nvPr/>
        </p:nvSpPr>
        <p:spPr>
          <a:xfrm>
            <a:off x="6083403" y="1193220"/>
            <a:ext cx="1885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{{prize_chart}}</a:t>
            </a:r>
            <a:endParaRPr i="0" sz="1200" u="none" cap="none" strike="noStrike">
              <a:solidFill>
                <a:srgbClr val="000000"/>
              </a:solidFill>
              <a:latin typeface="Calibri"/>
              <a:ea typeface="Calibri"/>
              <a:cs typeface="Calibri"/>
              <a:sym typeface="Calibri"/>
            </a:endParaRPr>
          </a:p>
        </p:txBody>
      </p:sp>
      <p:sp>
        <p:nvSpPr>
          <p:cNvPr id="63" name="Google Shape;63;p13"/>
          <p:cNvSpPr txBox="1"/>
          <p:nvPr/>
        </p:nvSpPr>
        <p:spPr>
          <a:xfrm>
            <a:off x="85981" y="627056"/>
            <a:ext cx="43815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lang="en-GB" sz="1200">
                <a:latin typeface="Calibri"/>
                <a:ea typeface="Calibri"/>
                <a:cs typeface="Calibri"/>
                <a:sym typeface="Calibri"/>
              </a:rPr>
              <a:t>{{cs_investment_rationale}}</a:t>
            </a:r>
            <a:endParaRPr sz="1200">
              <a:latin typeface="Calibri"/>
              <a:ea typeface="Calibri"/>
              <a:cs typeface="Calibri"/>
              <a:sym typeface="Calibri"/>
            </a:endParaRPr>
          </a:p>
          <a:p>
            <a:pPr indent="0" lvl="0" marL="0" marR="0" rtl="0" algn="l">
              <a:lnSpc>
                <a:spcPct val="100000"/>
              </a:lnSpc>
              <a:spcBef>
                <a:spcPts val="0"/>
              </a:spcBef>
              <a:spcAft>
                <a:spcPts val="0"/>
              </a:spcAft>
              <a:buNone/>
            </a:pPr>
            <a:r>
              <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Industry Overview</a:t>
            </a:r>
            <a:endParaRPr/>
          </a:p>
        </p:txBody>
      </p:sp>
      <p:sp>
        <p:nvSpPr>
          <p:cNvPr id="69" name="Google Shape;69;p14"/>
          <p:cNvSpPr txBox="1"/>
          <p:nvPr/>
        </p:nvSpPr>
        <p:spPr>
          <a:xfrm>
            <a:off x="90904" y="646084"/>
            <a:ext cx="89622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{{industry_overview}}</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Key Industry Tailwinds</a:t>
            </a:r>
            <a:endParaRPr/>
          </a:p>
        </p:txBody>
      </p:sp>
      <p:sp>
        <p:nvSpPr>
          <p:cNvPr id="75" name="Google Shape;75;p15"/>
          <p:cNvSpPr txBox="1"/>
          <p:nvPr/>
        </p:nvSpPr>
        <p:spPr>
          <a:xfrm>
            <a:off x="138289" y="654947"/>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rgbClr val="000000"/>
                </a:solidFill>
                <a:latin typeface="Calibri"/>
                <a:ea typeface="Calibri"/>
                <a:cs typeface="Calibri"/>
                <a:sym typeface="Calibri"/>
              </a:rPr>
              <a:t>{{industry_tailwinds}}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Industry Risks</a:t>
            </a:r>
            <a:endParaRPr/>
          </a:p>
        </p:txBody>
      </p:sp>
      <p:sp>
        <p:nvSpPr>
          <p:cNvPr id="81" name="Google Shape;81;p16"/>
          <p:cNvSpPr txBox="1"/>
          <p:nvPr/>
        </p:nvSpPr>
        <p:spPr>
          <a:xfrm>
            <a:off x="219150" y="62360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{{industry_risk}}</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Company Background</a:t>
            </a:r>
            <a:endParaRPr/>
          </a:p>
        </p:txBody>
      </p:sp>
      <p:sp>
        <p:nvSpPr>
          <p:cNvPr id="87" name="Google Shape;87;p17"/>
          <p:cNvSpPr txBox="1"/>
          <p:nvPr/>
        </p:nvSpPr>
        <p:spPr>
          <a:xfrm>
            <a:off x="138289" y="626272"/>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 {{company_background}}</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Business Model</a:t>
            </a:r>
            <a:endParaRPr/>
          </a:p>
        </p:txBody>
      </p:sp>
      <p:sp>
        <p:nvSpPr>
          <p:cNvPr id="93" name="Google Shape;93;p18"/>
          <p:cNvSpPr txBox="1"/>
          <p:nvPr/>
        </p:nvSpPr>
        <p:spPr>
          <a:xfrm>
            <a:off x="138303" y="631297"/>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{{business_model}}</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Demand Drivers</a:t>
            </a:r>
            <a:endParaRPr/>
          </a:p>
        </p:txBody>
      </p:sp>
      <p:sp>
        <p:nvSpPr>
          <p:cNvPr id="99" name="Google Shape;99;p19"/>
          <p:cNvSpPr txBox="1"/>
          <p:nvPr/>
        </p:nvSpPr>
        <p:spPr>
          <a:xfrm>
            <a:off x="161850" y="646625"/>
            <a:ext cx="88203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{{demand_drivers}}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Management Analysis</a:t>
            </a:r>
            <a:endParaRPr/>
          </a:p>
        </p:txBody>
      </p:sp>
      <p:sp>
        <p:nvSpPr>
          <p:cNvPr id="105" name="Google Shape;105;p20"/>
          <p:cNvSpPr txBox="1"/>
          <p:nvPr/>
        </p:nvSpPr>
        <p:spPr>
          <a:xfrm>
            <a:off x="138289" y="632649"/>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{{management_analysis}}</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Corporate Governance</a:t>
            </a:r>
            <a:endParaRPr/>
          </a:p>
        </p:txBody>
      </p:sp>
      <p:sp>
        <p:nvSpPr>
          <p:cNvPr id="111" name="Google Shape;111;p21"/>
          <p:cNvSpPr txBox="1"/>
          <p:nvPr/>
        </p:nvSpPr>
        <p:spPr>
          <a:xfrm>
            <a:off x="138289" y="646974"/>
            <a:ext cx="8867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cs_corporate_governance</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SAARTHI Framework</a:t>
            </a:r>
            <a:endParaRPr/>
          </a:p>
        </p:txBody>
      </p:sp>
      <p:sp>
        <p:nvSpPr>
          <p:cNvPr id="117" name="Google Shape;117;p22"/>
          <p:cNvSpPr txBox="1"/>
          <p:nvPr/>
        </p:nvSpPr>
        <p:spPr>
          <a:xfrm>
            <a:off x="219150" y="63795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cs_saarthi_framework</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3"/>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Scenario Analysis</a:t>
            </a:r>
            <a:endParaRPr/>
          </a:p>
        </p:txBody>
      </p:sp>
      <p:sp>
        <p:nvSpPr>
          <p:cNvPr id="123" name="Google Shape;123;p23"/>
          <p:cNvSpPr txBox="1"/>
          <p:nvPr/>
        </p:nvSpPr>
        <p:spPr>
          <a:xfrm>
            <a:off x="219150" y="62360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cs_scenario_analysis</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4"/>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Story in Charts</a:t>
            </a:r>
            <a:endParaRPr/>
          </a:p>
        </p:txBody>
      </p:sp>
      <p:sp>
        <p:nvSpPr>
          <p:cNvPr id="129" name="Google Shape;129;p24"/>
          <p:cNvSpPr txBox="1"/>
          <p:nvPr/>
        </p:nvSpPr>
        <p:spPr>
          <a:xfrm>
            <a:off x="2562578" y="1636889"/>
            <a:ext cx="14958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{{chart_custom}}</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Financials and Ratio Analysis</a:t>
            </a:r>
            <a:endParaRPr/>
          </a:p>
        </p:txBody>
      </p:sp>
      <p:sp>
        <p:nvSpPr>
          <p:cNvPr id="135" name="Google Shape;135;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6" name="Google Shape;136;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7" name="Google Shape;137;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t/>
            </a:r>
            <a:endParaRPr/>
          </a:p>
        </p:txBody>
      </p:sp>
      <p:sp>
        <p:nvSpPr>
          <p:cNvPr id="138" name="Google Shape;138;p25"/>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Clr>
                <a:schemeClr val="lt1"/>
              </a:buClr>
              <a:buSzPts val="2200"/>
              <a:buFont typeface="Calibri"/>
              <a:buNone/>
            </a:pPr>
            <a:r>
              <a:rPr lang="en-GB"/>
              <a:t>Financials Summary</a:t>
            </a:r>
            <a:endParaRPr/>
          </a:p>
        </p:txBody>
      </p:sp>
      <p:sp>
        <p:nvSpPr>
          <p:cNvPr id="139" name="Google Shape;139;p25"/>
          <p:cNvSpPr txBox="1"/>
          <p:nvPr/>
        </p:nvSpPr>
        <p:spPr>
          <a:xfrm>
            <a:off x="594782" y="659486"/>
            <a:ext cx="24150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i="0" lang="en-GB" sz="1200" u="none" cap="none" strike="noStrike">
                <a:solidFill>
                  <a:srgbClr val="000000"/>
                </a:solidFill>
                <a:latin typeface="Calibri"/>
                <a:ea typeface="Calibri"/>
                <a:cs typeface="Calibri"/>
                <a:sym typeface="Calibri"/>
              </a:rPr>
              <a:t>{{summary_table}}</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6"/>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Entry, Review &amp; Exit Strategy</a:t>
            </a:r>
            <a:endParaRPr/>
          </a:p>
        </p:txBody>
      </p:sp>
      <p:sp>
        <p:nvSpPr>
          <p:cNvPr id="145" name="Google Shape;145;p26"/>
          <p:cNvSpPr txBox="1"/>
          <p:nvPr/>
        </p:nvSpPr>
        <p:spPr>
          <a:xfrm>
            <a:off x="219150" y="652250"/>
            <a:ext cx="8705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i="0" lang="en-GB" sz="1200" u="none" cap="none" strike="noStrike">
                <a:solidFill>
                  <a:schemeClr val="dk1"/>
                </a:solidFill>
                <a:latin typeface="Calibri"/>
                <a:ea typeface="Calibri"/>
                <a:cs typeface="Calibri"/>
                <a:sym typeface="Calibri"/>
              </a:rPr>
              <a:t>{{</a:t>
            </a:r>
            <a:r>
              <a:rPr lang="en-GB" sz="1200">
                <a:solidFill>
                  <a:schemeClr val="dk1"/>
                </a:solidFill>
                <a:latin typeface="Calibri"/>
                <a:ea typeface="Calibri"/>
                <a:cs typeface="Calibri"/>
                <a:sym typeface="Calibri"/>
              </a:rPr>
              <a:t>cs_entry_review_exit_strategy</a:t>
            </a:r>
            <a:r>
              <a:rPr i="0" lang="en-GB" sz="1200" u="none" cap="none" strike="noStrike">
                <a:solidFill>
                  <a:schemeClr val="dk1"/>
                </a:solidFill>
                <a:latin typeface="Calibri"/>
                <a:ea typeface="Calibri"/>
                <a:cs typeface="Calibri"/>
                <a:sym typeface="Calibri"/>
              </a:rPr>
              <a:t>}}</a:t>
            </a:r>
            <a:endParaRPr i="0" sz="1200" u="none" cap="none" strike="noStrike">
              <a:solidFill>
                <a:srgbClr val="000000"/>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7"/>
          <p:cNvSpPr txBox="1"/>
          <p:nvPr>
            <p:ph type="title"/>
          </p:nvPr>
        </p:nvSpPr>
        <p:spPr>
          <a:xfrm>
            <a:off x="0" y="0"/>
            <a:ext cx="9144000" cy="543600"/>
          </a:xfrm>
          <a:prstGeom prst="rect">
            <a:avLst/>
          </a:prstGeom>
          <a:solidFill>
            <a:srgbClr val="1F4690"/>
          </a:solidFill>
          <a:ln>
            <a:noFill/>
          </a:ln>
        </p:spPr>
        <p:txBody>
          <a:bodyPr anchorCtr="0" anchor="ctr" bIns="91425" lIns="91425" spcFirstLastPara="1" rIns="91425" wrap="square" tIns="91425">
            <a:normAutofit/>
          </a:bodyPr>
          <a:lstStyle/>
          <a:p>
            <a:pPr indent="0" lvl="0" marL="0" rtl="0" algn="ctr">
              <a:lnSpc>
                <a:spcPct val="100000"/>
              </a:lnSpc>
              <a:spcBef>
                <a:spcPts val="0"/>
              </a:spcBef>
              <a:spcAft>
                <a:spcPts val="0"/>
              </a:spcAft>
              <a:buSzPts val="2200"/>
              <a:buNone/>
            </a:pPr>
            <a:r>
              <a:rPr lang="en-GB"/>
              <a:t>Disclosure and Disclaimers</a:t>
            </a:r>
            <a:endParaRPr/>
          </a:p>
        </p:txBody>
      </p:sp>
      <p:sp>
        <p:nvSpPr>
          <p:cNvPr id="151" name="Google Shape;151;p27"/>
          <p:cNvSpPr txBox="1"/>
          <p:nvPr/>
        </p:nvSpPr>
        <p:spPr>
          <a:xfrm>
            <a:off x="0" y="543600"/>
            <a:ext cx="9144000" cy="4224300"/>
          </a:xfrm>
          <a:prstGeom prst="rect">
            <a:avLst/>
          </a:prstGeom>
          <a:solidFill>
            <a:schemeClr val="lt1"/>
          </a:solidFill>
          <a:ln>
            <a:noFill/>
          </a:ln>
        </p:spPr>
        <p:txBody>
          <a:bodyPr anchorCtr="0" anchor="ctr" bIns="91425" lIns="91425" spcFirstLastPara="1" rIns="91425" wrap="square" tIns="91425">
            <a:noAutofit/>
          </a:bodyPr>
          <a:lstStyle/>
          <a:p>
            <a:pPr indent="0" lvl="0" marL="200660" marR="1198245" rtl="0" algn="just">
              <a:lnSpc>
                <a:spcPct val="100000"/>
              </a:lnSpc>
              <a:spcBef>
                <a:spcPts val="59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About Us: </a:t>
            </a:r>
            <a:r>
              <a:rPr b="0" i="0" lang="en-GB" sz="1000" u="none" cap="none" strike="noStrike">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b="0" i="0" sz="1000" u="none" cap="none" strike="noStrike">
              <a:solidFill>
                <a:schemeClr val="dk1"/>
              </a:solidFill>
              <a:latin typeface="Calibri"/>
              <a:ea typeface="Calibri"/>
              <a:cs typeface="Calibri"/>
              <a:sym typeface="Calibri"/>
            </a:endParaRPr>
          </a:p>
          <a:p>
            <a:pPr indent="0" lvl="0" marL="200660" marR="306070" rtl="0" algn="just">
              <a:lnSpc>
                <a:spcPct val="100000"/>
              </a:lnSpc>
              <a:spcBef>
                <a:spcPts val="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Disciplinary history: </a:t>
            </a:r>
            <a:r>
              <a:rPr b="0" i="0" lang="en-GB" sz="1000" u="none" cap="none" strike="noStrike">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Details of its associates: </a:t>
            </a:r>
            <a:r>
              <a:rPr b="0" i="0" lang="en-GB" sz="1000" u="none" cap="none" strike="noStrike">
                <a:solidFill>
                  <a:schemeClr val="dk1"/>
                </a:solidFill>
                <a:latin typeface="Calibri"/>
                <a:ea typeface="Calibri"/>
                <a:cs typeface="Calibri"/>
                <a:sym typeface="Calibri"/>
              </a:rPr>
              <a:t>No associates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rPr b="1" i="0" lang="en-GB" sz="1000" u="none" cap="none" strike="noStrike">
                <a:solidFill>
                  <a:srgbClr val="1F3864"/>
                </a:solidFill>
                <a:latin typeface="Calibri"/>
                <a:ea typeface="Calibri"/>
                <a:cs typeface="Calibri"/>
                <a:sym typeface="Calibri"/>
              </a:rPr>
              <a:t>Disclosures with respect to Research and Recommendations Services</a:t>
            </a:r>
            <a:endParaRPr b="1" i="0" sz="1000" u="none" cap="none" strike="noStrike">
              <a:solidFill>
                <a:schemeClr val="dk1"/>
              </a:solidFill>
              <a:latin typeface="Calibri"/>
              <a:ea typeface="Calibri"/>
              <a:cs typeface="Calibri"/>
              <a:sym typeface="Calibri"/>
            </a:endParaRPr>
          </a:p>
          <a:p>
            <a:pPr indent="0" lvl="0" marL="200660" marR="343535"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b="0" i="0" sz="1000" u="none" cap="none" strike="noStrike">
              <a:solidFill>
                <a:schemeClr val="dk1"/>
              </a:solidFill>
              <a:latin typeface="Calibri"/>
              <a:ea typeface="Calibri"/>
              <a:cs typeface="Calibri"/>
              <a:sym typeface="Calibri"/>
            </a:endParaRPr>
          </a:p>
          <a:p>
            <a:pPr indent="0" lvl="0" marL="200660" marR="305435" rtl="0" algn="just">
              <a:lnSpc>
                <a:spcPct val="98750"/>
              </a:lnSpc>
              <a:spcBef>
                <a:spcPts val="1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1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from the company in past 12 months.</a:t>
            </a:r>
            <a:endParaRPr b="0" i="0" sz="1000" u="none" cap="none" strike="noStrike">
              <a:solidFill>
                <a:schemeClr val="dk1"/>
              </a:solidFill>
              <a:latin typeface="Calibri"/>
              <a:ea typeface="Calibri"/>
              <a:cs typeface="Calibri"/>
              <a:sym typeface="Calibri"/>
            </a:endParaRPr>
          </a:p>
          <a:p>
            <a:pPr indent="0" lvl="0" marL="200660" marR="241300" rtl="0" algn="just">
              <a:lnSpc>
                <a:spcPct val="100000"/>
              </a:lnSpc>
              <a:spcBef>
                <a:spcPts val="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·Research Analysts or its employee or its associates has not served as an officer, director, or employee of the subject company</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5"/>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rPr b="0" i="0" lang="en-GB" sz="1000" u="none" cap="none" strike="noStrike">
                <a:solidFill>
                  <a:schemeClr val="dk1"/>
                </a:solidFill>
                <a:latin typeface="Calibri"/>
                <a:ea typeface="Calibri"/>
                <a:cs typeface="Calibri"/>
                <a:sym typeface="Calibri"/>
              </a:rPr>
              <a:t>·Investment in securities market are subject to market risks. Read all the related documents carefully before investing</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a:p>
            <a:pPr indent="0" lvl="0" marL="200660" marR="0" rtl="0" algn="just">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pic>
        <p:nvPicPr>
          <p:cNvPr descr="A picture containing text, whiteboard&#10;&#10;Description automatically generated" id="152" name="Google Shape;152;p27"/>
          <p:cNvPicPr preferRelativeResize="0"/>
          <p:nvPr/>
        </p:nvPicPr>
        <p:blipFill rotWithShape="1">
          <a:blip r:embed="rId3">
            <a:alphaModFix/>
          </a:blip>
          <a:srcRect b="0" l="0" r="0" t="0"/>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