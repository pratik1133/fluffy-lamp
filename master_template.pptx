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3-25T13:27:08.440">
    <p:pos x="6000" y="0"/>
    <p:text>sign add
-Tikona Capital</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 name="Google Shape;84;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 name="Google Shape;9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 name="Google Shape;96;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 name="Google Shape;120;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 name="Google Shape;142;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13" name="Shape 13"/>
        <p:cNvGrpSpPr/>
        <p:nvPr/>
      </p:nvGrpSpPr>
      <p:grpSpPr>
        <a:xfrm>
          <a:off x="0" y="0"/>
          <a:ext cx="0" cy="0"/>
          <a:chOff x="0" y="0"/>
          <a:chExt cx="0" cy="0"/>
        </a:xfrm>
      </p:grpSpPr>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5" name="Google Shape;15;p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16" name="Google Shape;16;p3"/>
          <p:cNvCxnSpPr/>
          <p:nvPr/>
        </p:nvCxnSpPr>
        <p:spPr>
          <a:xfrm>
            <a:off x="4563000" y="591725"/>
            <a:ext cx="27000" cy="4179000"/>
          </a:xfrm>
          <a:prstGeom prst="straightConnector1">
            <a:avLst/>
          </a:prstGeom>
          <a:noFill/>
          <a:ln cap="flat" cmpd="sng" w="9525">
            <a:solidFill>
              <a:srgbClr val="FFA500"/>
            </a:solidFill>
            <a:prstDash val="solid"/>
            <a:round/>
            <a:headEnd len="sm" w="sm" type="none"/>
            <a:tailEnd len="sm" w="sm" type="none"/>
          </a:ln>
        </p:spPr>
      </p:cxnSp>
      <p:sp>
        <p:nvSpPr>
          <p:cNvPr id="17" name="Google Shape;17;p3"/>
          <p:cNvSpPr txBox="1"/>
          <p:nvPr>
            <p:ph idx="2" type="title"/>
          </p:nvPr>
        </p:nvSpPr>
        <p:spPr>
          <a:xfrm>
            <a:off x="55450" y="591725"/>
            <a:ext cx="4454100" cy="4179000"/>
          </a:xfrm>
          <a:prstGeom prst="rect">
            <a:avLst/>
          </a:prstGeom>
          <a:solidFill>
            <a:srgbClr val="FFE5B4"/>
          </a:solid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1800"/>
              <a:buFont typeface="Calibri"/>
              <a:buNone/>
              <a:defRPr sz="1800">
                <a:latin typeface="Calibri"/>
                <a:ea typeface="Calibri"/>
                <a:cs typeface="Calibri"/>
                <a:sym typeface="Calibri"/>
              </a:defRPr>
            </a:lvl1pPr>
            <a:lvl2pPr lvl="1" algn="l">
              <a:lnSpc>
                <a:spcPct val="100000"/>
              </a:lnSpc>
              <a:spcBef>
                <a:spcPts val="0"/>
              </a:spcBef>
              <a:spcAft>
                <a:spcPts val="0"/>
              </a:spcAft>
              <a:buSzPts val="1800"/>
              <a:buFont typeface="Calibri"/>
              <a:buNone/>
              <a:defRPr sz="1800">
                <a:latin typeface="Calibri"/>
                <a:ea typeface="Calibri"/>
                <a:cs typeface="Calibri"/>
                <a:sym typeface="Calibri"/>
              </a:defRPr>
            </a:lvl2pPr>
            <a:lvl3pPr lvl="2" algn="l">
              <a:lnSpc>
                <a:spcPct val="100000"/>
              </a:lnSpc>
              <a:spcBef>
                <a:spcPts val="0"/>
              </a:spcBef>
              <a:spcAft>
                <a:spcPts val="0"/>
              </a:spcAft>
              <a:buSzPts val="1800"/>
              <a:buFont typeface="Calibri"/>
              <a:buNone/>
              <a:defRPr sz="1800">
                <a:latin typeface="Calibri"/>
                <a:ea typeface="Calibri"/>
                <a:cs typeface="Calibri"/>
                <a:sym typeface="Calibri"/>
              </a:defRPr>
            </a:lvl3pPr>
            <a:lvl4pPr lvl="3" algn="l">
              <a:lnSpc>
                <a:spcPct val="100000"/>
              </a:lnSpc>
              <a:spcBef>
                <a:spcPts val="0"/>
              </a:spcBef>
              <a:spcAft>
                <a:spcPts val="0"/>
              </a:spcAft>
              <a:buSzPts val="1800"/>
              <a:buFont typeface="Calibri"/>
              <a:buNone/>
              <a:defRPr sz="1800">
                <a:latin typeface="Calibri"/>
                <a:ea typeface="Calibri"/>
                <a:cs typeface="Calibri"/>
                <a:sym typeface="Calibri"/>
              </a:defRPr>
            </a:lvl4pPr>
            <a:lvl5pPr lvl="4" algn="l">
              <a:lnSpc>
                <a:spcPct val="100000"/>
              </a:lnSpc>
              <a:spcBef>
                <a:spcPts val="0"/>
              </a:spcBef>
              <a:spcAft>
                <a:spcPts val="0"/>
              </a:spcAft>
              <a:buSzPts val="1800"/>
              <a:buFont typeface="Calibri"/>
              <a:buNone/>
              <a:defRPr sz="1800">
                <a:latin typeface="Calibri"/>
                <a:ea typeface="Calibri"/>
                <a:cs typeface="Calibri"/>
                <a:sym typeface="Calibri"/>
              </a:defRPr>
            </a:lvl5pPr>
            <a:lvl6pPr lvl="5" algn="l">
              <a:lnSpc>
                <a:spcPct val="100000"/>
              </a:lnSpc>
              <a:spcBef>
                <a:spcPts val="0"/>
              </a:spcBef>
              <a:spcAft>
                <a:spcPts val="0"/>
              </a:spcAft>
              <a:buSzPts val="1800"/>
              <a:buFont typeface="Calibri"/>
              <a:buNone/>
              <a:defRPr sz="1800">
                <a:latin typeface="Calibri"/>
                <a:ea typeface="Calibri"/>
                <a:cs typeface="Calibri"/>
                <a:sym typeface="Calibri"/>
              </a:defRPr>
            </a:lvl6pPr>
            <a:lvl7pPr lvl="6" algn="l">
              <a:lnSpc>
                <a:spcPct val="100000"/>
              </a:lnSpc>
              <a:spcBef>
                <a:spcPts val="0"/>
              </a:spcBef>
              <a:spcAft>
                <a:spcPts val="0"/>
              </a:spcAft>
              <a:buSzPts val="1800"/>
              <a:buFont typeface="Calibri"/>
              <a:buNone/>
              <a:defRPr sz="1800">
                <a:latin typeface="Calibri"/>
                <a:ea typeface="Calibri"/>
                <a:cs typeface="Calibri"/>
                <a:sym typeface="Calibri"/>
              </a:defRPr>
            </a:lvl7pPr>
            <a:lvl8pPr lvl="7" algn="l">
              <a:lnSpc>
                <a:spcPct val="100000"/>
              </a:lnSpc>
              <a:spcBef>
                <a:spcPts val="0"/>
              </a:spcBef>
              <a:spcAft>
                <a:spcPts val="0"/>
              </a:spcAft>
              <a:buSzPts val="1800"/>
              <a:buFont typeface="Calibri"/>
              <a:buNone/>
              <a:defRPr sz="1800">
                <a:latin typeface="Calibri"/>
                <a:ea typeface="Calibri"/>
                <a:cs typeface="Calibri"/>
                <a:sym typeface="Calibri"/>
              </a:defRPr>
            </a:lvl8pPr>
            <a:lvl9pPr lvl="8" algn="l">
              <a:lnSpc>
                <a:spcPct val="100000"/>
              </a:lnSpc>
              <a:spcBef>
                <a:spcPts val="0"/>
              </a:spcBef>
              <a:spcAft>
                <a:spcPts val="0"/>
              </a:spcAft>
              <a:buSzPts val="1800"/>
              <a:buFont typeface="Calibri"/>
              <a:buNone/>
              <a:defRPr sz="1800">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0" name="Google Shape;20;p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3" name="Google Shape;23;p5"/>
          <p:cNvSpPr txBox="1"/>
          <p:nvPr>
            <p:ph type="title"/>
          </p:nvPr>
        </p:nvSpPr>
        <p:spPr>
          <a:xfrm>
            <a:off x="4662275" y="0"/>
            <a:ext cx="44817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
        <p:nvSpPr>
          <p:cNvPr id="24" name="Google Shape;24;p5"/>
          <p:cNvSpPr txBox="1"/>
          <p:nvPr>
            <p:ph idx="2" type="title"/>
          </p:nvPr>
        </p:nvSpPr>
        <p:spPr>
          <a:xfrm>
            <a:off x="0" y="0"/>
            <a:ext cx="44283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25" name="Google Shape;25;p5"/>
          <p:cNvCxnSpPr/>
          <p:nvPr/>
        </p:nvCxnSpPr>
        <p:spPr>
          <a:xfrm>
            <a:off x="4533925" y="94425"/>
            <a:ext cx="24000" cy="4852500"/>
          </a:xfrm>
          <a:prstGeom prst="straightConnector1">
            <a:avLst/>
          </a:prstGeom>
          <a:noFill/>
          <a:ln cap="flat" cmpd="sng" w="9525">
            <a:solidFill>
              <a:srgbClr val="FFA500"/>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6" name="Shape 26"/>
        <p:cNvGrpSpPr/>
        <p:nvPr/>
      </p:nvGrpSpPr>
      <p:grpSpPr>
        <a:xfrm>
          <a:off x="0" y="0"/>
          <a:ext cx="0" cy="0"/>
          <a:chOff x="0" y="0"/>
          <a:chExt cx="0" cy="0"/>
        </a:xfrm>
      </p:grpSpPr>
      <p:sp>
        <p:nvSpPr>
          <p:cNvPr id="27" name="Google Shape;27;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8" name="Google Shape;28;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9" name="Google Shape;29;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0" name="Google Shape;30;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1" name="Shape 31"/>
        <p:cNvGrpSpPr/>
        <p:nvPr/>
      </p:nvGrpSpPr>
      <p:grpSpPr>
        <a:xfrm>
          <a:off x="0" y="0"/>
          <a:ext cx="0" cy="0"/>
          <a:chOff x="0" y="0"/>
          <a:chExt cx="0" cy="0"/>
        </a:xfrm>
      </p:grpSpPr>
      <p:sp>
        <p:nvSpPr>
          <p:cNvPr id="32" name="Google Shape;32;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 name="Google Shape;33;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theme" Target="../theme/theme1.xml"/><Relationship Id="rId12" Type="http://schemas.openxmlformats.org/officeDocument/2006/relationships/slideLayout" Target="../slideLayouts/slideLayout10.xml"/><Relationship Id="rId1" Type="http://schemas.openxmlformats.org/officeDocument/2006/relationships/image" Target="../media/image1.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
            <a:alphaModFix/>
          </a:blip>
          <a:srcRect b="0" l="0" r="0" t="0"/>
          <a:stretch/>
        </p:blipFill>
        <p:spPr>
          <a:xfrm>
            <a:off x="0" y="4865050"/>
            <a:ext cx="1120900" cy="278450"/>
          </a:xfrm>
          <a:prstGeom prst="rect">
            <a:avLst/>
          </a:prstGeom>
          <a:noFill/>
          <a:ln cap="flat" cmpd="sng" w="9525">
            <a:solidFill>
              <a:srgbClr val="1F4690"/>
            </a:solidFill>
            <a:prstDash val="solid"/>
            <a:round/>
            <a:headEnd len="sm" w="sm" type="none"/>
            <a:tailEnd len="sm" w="sm" type="none"/>
          </a:ln>
        </p:spPr>
      </p:pic>
      <p:sp>
        <p:nvSpPr>
          <p:cNvPr id="10" name="Google Shape;10;p1"/>
          <p:cNvSpPr/>
          <p:nvPr/>
        </p:nvSpPr>
        <p:spPr>
          <a:xfrm>
            <a:off x="1448233" y="2065194"/>
            <a:ext cx="6247534" cy="1374198"/>
          </a:xfrm>
          <a:prstGeom prst="rect">
            <a:avLst/>
          </a:prstGeom>
          <a:blipFill rotWithShape="1">
            <a:blip r:embed="rId2">
              <a:alphaModFix amt="20000"/>
            </a:blip>
            <a:stretch>
              <a:fillRect b="0" l="0" r="0" t="0"/>
            </a:stretch>
          </a:blipFill>
          <a:ln cap="flat" cmpd="sng" w="254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comments" Target="../comments/commen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2"/>
          <p:cNvSpPr txBox="1"/>
          <p:nvPr>
            <p:ph idx="4294967295" type="ctrTitle"/>
          </p:nvPr>
        </p:nvSpPr>
        <p:spPr>
          <a:xfrm>
            <a:off x="311700" y="154025"/>
            <a:ext cx="8520600" cy="2052600"/>
          </a:xfrm>
          <a:prstGeom prst="rect">
            <a:avLst/>
          </a:prstGeom>
          <a:solidFill>
            <a:srgbClr val="1F4690"/>
          </a:solidFill>
          <a:ln>
            <a:noFill/>
          </a:ln>
        </p:spPr>
        <p:txBody>
          <a:bodyPr anchorCtr="0" anchor="ctr" bIns="91425" lIns="91425" spcFirstLastPara="1" rIns="91425" wrap="square" tIns="91425">
            <a:normAutofit/>
          </a:bodyPr>
          <a:lstStyle/>
          <a:p>
            <a:pPr indent="0" lvl="0" marL="0" marR="0" rtl="0" algn="ctr">
              <a:lnSpc>
                <a:spcPct val="100000"/>
              </a:lnSpc>
              <a:spcBef>
                <a:spcPts val="0"/>
              </a:spcBef>
              <a:spcAft>
                <a:spcPts val="0"/>
              </a:spcAft>
              <a:buClr>
                <a:schemeClr val="dk1"/>
              </a:buClr>
              <a:buSzPts val="2800"/>
              <a:buFont typeface="Arial"/>
              <a:buNone/>
            </a:pPr>
            <a:r>
              <a:rPr b="1" i="0" lang="en-GB" sz="4000" u="none" cap="none" strike="noStrike">
                <a:solidFill>
                  <a:schemeClr val="lt1"/>
                </a:solidFill>
                <a:latin typeface="Calibri"/>
                <a:ea typeface="Calibri"/>
                <a:cs typeface="Calibri"/>
                <a:sym typeface="Calibri"/>
              </a:rPr>
              <a:t>{{company_name}}</a:t>
            </a:r>
            <a:endParaRPr b="1" i="0" sz="4000" u="none" cap="none" strike="noStrike">
              <a:solidFill>
                <a:schemeClr val="lt1"/>
              </a:solidFill>
              <a:latin typeface="Calibri"/>
              <a:ea typeface="Calibri"/>
              <a:cs typeface="Calibri"/>
              <a:sym typeface="Calibri"/>
            </a:endParaRPr>
          </a:p>
        </p:txBody>
      </p:sp>
      <p:sp>
        <p:nvSpPr>
          <p:cNvPr id="55" name="Google Shape;55;p12"/>
          <p:cNvSpPr txBox="1"/>
          <p:nvPr>
            <p:ph idx="4294967295" type="subTitle"/>
          </p:nvPr>
        </p:nvSpPr>
        <p:spPr>
          <a:xfrm>
            <a:off x="311700" y="3395424"/>
            <a:ext cx="8520600" cy="1367076"/>
          </a:xfrm>
          <a:prstGeom prst="rect">
            <a:avLst/>
          </a:prstGeom>
          <a:solidFill>
            <a:schemeClr val="lt1"/>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rmAutofit/>
          </a:bodyPr>
          <a:lstStyle/>
          <a:p>
            <a:pPr indent="0" lvl="0" marL="0" marR="0" rtl="0" algn="ctr">
              <a:lnSpc>
                <a:spcPct val="95000"/>
              </a:lnSpc>
              <a:spcBef>
                <a:spcPts val="0"/>
              </a:spcBef>
              <a:spcAft>
                <a:spcPts val="0"/>
              </a:spcAft>
              <a:buClr>
                <a:schemeClr val="dk2"/>
              </a:buClr>
              <a:buSzPts val="744"/>
              <a:buFont typeface="Arial"/>
              <a:buNone/>
            </a:pPr>
            <a:r>
              <a:rPr b="1" i="0" lang="en-GB" sz="1375" u="none" cap="none" strike="noStrike">
                <a:solidFill>
                  <a:schemeClr val="dk1"/>
                </a:solidFill>
                <a:latin typeface="Calibri"/>
                <a:ea typeface="Calibri"/>
                <a:cs typeface="Calibri"/>
                <a:sym typeface="Calibri"/>
              </a:rPr>
              <a:t>NSE:{{nse_symbol}} | BOM:{{bom_code}} | Rating: {{recommendation}} </a:t>
            </a:r>
            <a:endParaRPr/>
          </a:p>
          <a:p>
            <a:pPr indent="0" lvl="0" marL="0" marR="0" rtl="0" algn="ctr">
              <a:lnSpc>
                <a:spcPct val="95000"/>
              </a:lnSpc>
              <a:spcBef>
                <a:spcPts val="0"/>
              </a:spcBef>
              <a:spcAft>
                <a:spcPts val="0"/>
              </a:spcAft>
              <a:buClr>
                <a:schemeClr val="dk2"/>
              </a:buClr>
              <a:buSzPts val="744"/>
              <a:buFont typeface="Arial"/>
              <a:buNone/>
            </a:pPr>
            <a:r>
              <a:rPr b="1" i="0" lang="en-GB" sz="1375" u="none" cap="none" strike="noStrike">
                <a:solidFill>
                  <a:schemeClr val="dk1"/>
                </a:solidFill>
                <a:latin typeface="Calibri"/>
                <a:ea typeface="Calibri"/>
                <a:cs typeface="Calibri"/>
                <a:sym typeface="Calibri"/>
              </a:rPr>
              <a:t>Market Cap: ₹{{market_cap}} Cr|Market Cap Category: {{market_cap_category}}|CMP: ₹{{current_market_price}}</a:t>
            </a:r>
            <a:endParaRPr b="1" i="0" sz="1375"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375" u="none" cap="none" strike="noStrike">
                <a:solidFill>
                  <a:schemeClr val="dk1"/>
                </a:solidFill>
                <a:latin typeface="Calibri"/>
                <a:ea typeface="Calibri"/>
                <a:cs typeface="Calibri"/>
                <a:sym typeface="Calibri"/>
              </a:rPr>
              <a:t>Target Price: ₹{{target_price}}|Upside: {{upside_percentage}}%</a:t>
            </a:r>
            <a:endParaRPr/>
          </a:p>
          <a:p>
            <a:pPr indent="0" lvl="0" marL="0" marR="0" rtl="0" algn="ctr">
              <a:lnSpc>
                <a:spcPct val="95000"/>
              </a:lnSpc>
              <a:spcBef>
                <a:spcPts val="0"/>
              </a:spcBef>
              <a:spcAft>
                <a:spcPts val="0"/>
              </a:spcAft>
              <a:buClr>
                <a:schemeClr val="dk2"/>
              </a:buClr>
              <a:buSzPts val="744"/>
              <a:buFont typeface="Arial"/>
              <a:buNone/>
            </a:pPr>
            <a:r>
              <a:rPr b="1" i="0" lang="en-GB" sz="1375" u="none" cap="none" strike="noStrike">
                <a:solidFill>
                  <a:schemeClr val="dk1"/>
                </a:solidFill>
                <a:latin typeface="Calibri"/>
                <a:ea typeface="Calibri"/>
                <a:cs typeface="Calibri"/>
                <a:sym typeface="Calibri"/>
              </a:rPr>
              <a:t>Date: {{today_date}}</a:t>
            </a:r>
            <a:endParaRPr b="1" i="0" sz="1375"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{{Masterheading_h}}</a:t>
            </a:r>
            <a:endParaRPr/>
          </a:p>
        </p:txBody>
      </p:sp>
      <p:sp>
        <p:nvSpPr>
          <p:cNvPr id="61" name="Google Shape;61;p13"/>
          <p:cNvSpPr txBox="1"/>
          <p:nvPr/>
        </p:nvSpPr>
        <p:spPr>
          <a:xfrm>
            <a:off x="6001103" y="3409245"/>
            <a:ext cx="1885244"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rgbClr val="000000"/>
                </a:solidFill>
                <a:latin typeface="Arial"/>
                <a:ea typeface="Arial"/>
                <a:cs typeface="Arial"/>
                <a:sym typeface="Arial"/>
              </a:rPr>
              <a:t>{{financial_table}}</a:t>
            </a:r>
            <a:endParaRPr b="0" i="0" sz="1400" u="none" cap="none" strike="noStrike">
              <a:solidFill>
                <a:srgbClr val="000000"/>
              </a:solidFill>
              <a:latin typeface="Arial"/>
              <a:ea typeface="Arial"/>
              <a:cs typeface="Arial"/>
              <a:sym typeface="Arial"/>
            </a:endParaRPr>
          </a:p>
        </p:txBody>
      </p:sp>
      <p:sp>
        <p:nvSpPr>
          <p:cNvPr id="62" name="Google Shape;62;p13"/>
          <p:cNvSpPr txBox="1"/>
          <p:nvPr/>
        </p:nvSpPr>
        <p:spPr>
          <a:xfrm>
            <a:off x="6169378" y="1224845"/>
            <a:ext cx="1885244"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rgbClr val="000000"/>
                </a:solidFill>
                <a:latin typeface="Arial"/>
                <a:ea typeface="Arial"/>
                <a:cs typeface="Arial"/>
                <a:sym typeface="Arial"/>
              </a:rPr>
              <a:t>{{prize_chart}}</a:t>
            </a:r>
            <a:endParaRPr b="0" i="0" sz="1400" u="none" cap="none" strike="noStrike">
              <a:solidFill>
                <a:srgbClr val="000000"/>
              </a:solidFill>
              <a:latin typeface="Arial"/>
              <a:ea typeface="Arial"/>
              <a:cs typeface="Arial"/>
              <a:sym typeface="Arial"/>
            </a:endParaRPr>
          </a:p>
        </p:txBody>
      </p:sp>
      <p:sp>
        <p:nvSpPr>
          <p:cNvPr id="63" name="Google Shape;63;p13"/>
          <p:cNvSpPr txBox="1"/>
          <p:nvPr/>
        </p:nvSpPr>
        <p:spPr>
          <a:xfrm>
            <a:off x="1" y="670033"/>
            <a:ext cx="43815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GB"/>
              <a:t>{{cs_investment_rationale}}</a:t>
            </a:r>
            <a:endParaRPr/>
          </a:p>
          <a:p>
            <a:pPr indent="0" lvl="0" marL="0" marR="0" rtl="0" algn="l">
              <a:lnSpc>
                <a:spcPct val="100000"/>
              </a:lnSpc>
              <a:spcBef>
                <a:spcPts val="0"/>
              </a:spcBef>
              <a:spcAft>
                <a:spcPts val="0"/>
              </a:spcAft>
              <a:buNone/>
            </a:pPr>
            <a:r>
              <a:t/>
            </a:r>
            <a:endParaRPr i="0" sz="1400" u="none" cap="none" strike="noStrike">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{{Company_Background_h}}</a:t>
            </a:r>
            <a:endParaRPr/>
          </a:p>
        </p:txBody>
      </p:sp>
      <p:sp>
        <p:nvSpPr>
          <p:cNvPr id="69" name="Google Shape;69;p14"/>
          <p:cNvSpPr txBox="1"/>
          <p:nvPr/>
        </p:nvSpPr>
        <p:spPr>
          <a:xfrm>
            <a:off x="138289" y="783872"/>
            <a:ext cx="886742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 {{company_background}}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{{Business_Model_Explanation_h}}</a:t>
            </a:r>
            <a:endParaRPr/>
          </a:p>
        </p:txBody>
      </p:sp>
      <p:sp>
        <p:nvSpPr>
          <p:cNvPr id="75" name="Google Shape;75;p15"/>
          <p:cNvSpPr txBox="1"/>
          <p:nvPr/>
        </p:nvSpPr>
        <p:spPr>
          <a:xfrm>
            <a:off x="124178" y="688622"/>
            <a:ext cx="886742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{{business_model}}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{{Management_Analysis_h}}</a:t>
            </a:r>
            <a:endParaRPr/>
          </a:p>
        </p:txBody>
      </p:sp>
      <p:sp>
        <p:nvSpPr>
          <p:cNvPr id="81" name="Google Shape;81;p16"/>
          <p:cNvSpPr txBox="1"/>
          <p:nvPr/>
        </p:nvSpPr>
        <p:spPr>
          <a:xfrm>
            <a:off x="138289" y="804574"/>
            <a:ext cx="886742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{{management_analysis}}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{{Coporate_Governance_h}}</a:t>
            </a:r>
            <a:endParaRPr/>
          </a:p>
        </p:txBody>
      </p:sp>
      <p:sp>
        <p:nvSpPr>
          <p:cNvPr id="87" name="Google Shape;87;p17"/>
          <p:cNvSpPr txBox="1"/>
          <p:nvPr/>
        </p:nvSpPr>
        <p:spPr>
          <a:xfrm>
            <a:off x="138289" y="804574"/>
            <a:ext cx="886742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{{cs</a:t>
            </a:r>
            <a:r>
              <a:rPr lang="en-GB">
                <a:solidFill>
                  <a:schemeClr val="dk1"/>
                </a:solidFill>
                <a:latin typeface="Calibri"/>
                <a:ea typeface="Calibri"/>
                <a:cs typeface="Calibri"/>
                <a:sym typeface="Calibri"/>
              </a:rPr>
              <a:t>_c</a:t>
            </a:r>
            <a:r>
              <a:rPr b="0" i="0" lang="en-GB" sz="1400" u="none" cap="none" strike="noStrike">
                <a:solidFill>
                  <a:schemeClr val="dk1"/>
                </a:solidFill>
                <a:latin typeface="Calibri"/>
                <a:ea typeface="Calibri"/>
                <a:cs typeface="Calibri"/>
                <a:sym typeface="Calibri"/>
              </a:rPr>
              <a:t>oporate_</a:t>
            </a:r>
            <a:r>
              <a:rPr lang="en-GB">
                <a:solidFill>
                  <a:schemeClr val="dk1"/>
                </a:solidFill>
                <a:latin typeface="Calibri"/>
                <a:ea typeface="Calibri"/>
                <a:cs typeface="Calibri"/>
                <a:sym typeface="Calibri"/>
              </a:rPr>
              <a:t>g</a:t>
            </a:r>
            <a:r>
              <a:rPr b="0" i="0" lang="en-GB" sz="1400" u="none" cap="none" strike="noStrike">
                <a:solidFill>
                  <a:schemeClr val="dk1"/>
                </a:solidFill>
                <a:latin typeface="Calibri"/>
                <a:ea typeface="Calibri"/>
                <a:cs typeface="Calibri"/>
                <a:sym typeface="Calibri"/>
              </a:rPr>
              <a:t>overnance}}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{{Industry_Overview_h}}</a:t>
            </a:r>
            <a:endParaRPr/>
          </a:p>
        </p:txBody>
      </p:sp>
      <p:sp>
        <p:nvSpPr>
          <p:cNvPr id="93" name="Google Shape;93;p18"/>
          <p:cNvSpPr txBox="1"/>
          <p:nvPr/>
        </p:nvSpPr>
        <p:spPr>
          <a:xfrm>
            <a:off x="90854" y="703384"/>
            <a:ext cx="896229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{{industry_overview}}</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{{Key_Industry_Tailwinds_h}}</a:t>
            </a:r>
            <a:endParaRPr/>
          </a:p>
        </p:txBody>
      </p:sp>
      <p:sp>
        <p:nvSpPr>
          <p:cNvPr id="99" name="Google Shape;99;p19"/>
          <p:cNvSpPr txBox="1"/>
          <p:nvPr/>
        </p:nvSpPr>
        <p:spPr>
          <a:xfrm>
            <a:off x="138289" y="783872"/>
            <a:ext cx="886742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rgbClr val="000000"/>
                </a:solidFill>
                <a:latin typeface="Arial"/>
                <a:ea typeface="Arial"/>
                <a:cs typeface="Arial"/>
                <a:sym typeface="Arial"/>
              </a:rPr>
              <a:t>{{industry_tailwinds}}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{{Demand_drivers_h}}</a:t>
            </a:r>
            <a:endParaRPr/>
          </a:p>
        </p:txBody>
      </p:sp>
      <p:sp>
        <p:nvSpPr>
          <p:cNvPr id="105" name="Google Shape;105;p20"/>
          <p:cNvSpPr txBox="1"/>
          <p:nvPr/>
        </p:nvSpPr>
        <p:spPr>
          <a:xfrm>
            <a:off x="133350" y="789900"/>
            <a:ext cx="882015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{{demand_drivers}}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{{Industry_Risks_h}}</a:t>
            </a:r>
            <a:endParaRPr/>
          </a:p>
        </p:txBody>
      </p:sp>
      <p:sp>
        <p:nvSpPr>
          <p:cNvPr id="111" name="Google Shape;111;p21"/>
          <p:cNvSpPr txBox="1"/>
          <p:nvPr/>
        </p:nvSpPr>
        <p:spPr>
          <a:xfrm>
            <a:off x="171450" y="723900"/>
            <a:ext cx="870585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{{industry_risk}}</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{{Framework}}</a:t>
            </a:r>
            <a:endParaRPr/>
          </a:p>
        </p:txBody>
      </p:sp>
      <p:sp>
        <p:nvSpPr>
          <p:cNvPr id="117" name="Google Shape;117;p22"/>
          <p:cNvSpPr txBox="1"/>
          <p:nvPr/>
        </p:nvSpPr>
        <p:spPr>
          <a:xfrm>
            <a:off x="171450" y="723900"/>
            <a:ext cx="87057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a:t>
            </a:r>
            <a:r>
              <a:rPr lang="en-GB">
                <a:solidFill>
                  <a:schemeClr val="dk1"/>
                </a:solidFill>
                <a:latin typeface="Calibri"/>
                <a:ea typeface="Calibri"/>
                <a:cs typeface="Calibri"/>
                <a:sym typeface="Calibri"/>
              </a:rPr>
              <a:t>cs_saarthi_framework</a:t>
            </a:r>
            <a:r>
              <a:rPr b="0" i="0" lang="en-GB" sz="1400" u="none" cap="none" strike="noStrike">
                <a:solidFill>
                  <a:schemeClr val="dk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{{Entry_Review_Exit_h}}</a:t>
            </a:r>
            <a:endParaRPr/>
          </a:p>
        </p:txBody>
      </p:sp>
      <p:sp>
        <p:nvSpPr>
          <p:cNvPr id="123" name="Google Shape;123;p23"/>
          <p:cNvSpPr txBox="1"/>
          <p:nvPr/>
        </p:nvSpPr>
        <p:spPr>
          <a:xfrm>
            <a:off x="171450" y="723900"/>
            <a:ext cx="870585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a:t>
            </a:r>
            <a:r>
              <a:rPr lang="en-GB">
                <a:solidFill>
                  <a:schemeClr val="dk1"/>
                </a:solidFill>
                <a:latin typeface="Calibri"/>
                <a:ea typeface="Calibri"/>
                <a:cs typeface="Calibri"/>
                <a:sym typeface="Calibri"/>
              </a:rPr>
              <a:t>cs_entry_review_exit_strategy</a:t>
            </a:r>
            <a:r>
              <a:rPr b="0" i="0" lang="en-GB" sz="1400" u="none" cap="none" strike="noStrike">
                <a:solidFill>
                  <a:schemeClr val="dk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{{Scenario_Analysis_h}}</a:t>
            </a:r>
            <a:endParaRPr/>
          </a:p>
        </p:txBody>
      </p:sp>
      <p:sp>
        <p:nvSpPr>
          <p:cNvPr id="129" name="Google Shape;129;p24"/>
          <p:cNvSpPr txBox="1"/>
          <p:nvPr/>
        </p:nvSpPr>
        <p:spPr>
          <a:xfrm>
            <a:off x="171450" y="723900"/>
            <a:ext cx="870585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chemeClr val="dk1"/>
                </a:solidFill>
                <a:latin typeface="Calibri"/>
                <a:ea typeface="Calibri"/>
                <a:cs typeface="Calibri"/>
                <a:sym typeface="Calibri"/>
              </a:rPr>
              <a:t>{{</a:t>
            </a:r>
            <a:r>
              <a:rPr lang="en-GB">
                <a:solidFill>
                  <a:schemeClr val="dk1"/>
                </a:solidFill>
                <a:latin typeface="Calibri"/>
                <a:ea typeface="Calibri"/>
                <a:cs typeface="Calibri"/>
                <a:sym typeface="Calibri"/>
              </a:rPr>
              <a:t>cs_scenario_analysis</a:t>
            </a:r>
            <a:r>
              <a:rPr b="0" i="0" lang="en-GB" sz="1400" u="none" cap="none" strike="noStrike">
                <a:solidFill>
                  <a:schemeClr val="dk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Financials and Ratio Analysis</a:t>
            </a:r>
            <a:endParaRPr/>
          </a:p>
        </p:txBody>
      </p:sp>
      <p:sp>
        <p:nvSpPr>
          <p:cNvPr id="135" name="Google Shape;135;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6" name="Google Shape;136;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7" name="Google Shape;137;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8" name="Google Shape;138;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rPr lang="en-GB"/>
              <a:t>Financials Summary</a:t>
            </a:r>
            <a:endParaRPr/>
          </a:p>
        </p:txBody>
      </p:sp>
      <p:sp>
        <p:nvSpPr>
          <p:cNvPr id="139" name="Google Shape;139;p25"/>
          <p:cNvSpPr txBox="1"/>
          <p:nvPr/>
        </p:nvSpPr>
        <p:spPr>
          <a:xfrm>
            <a:off x="594782" y="659486"/>
            <a:ext cx="2415118" cy="30773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rgbClr val="000000"/>
                </a:solidFill>
                <a:latin typeface="Arial"/>
                <a:ea typeface="Arial"/>
                <a:cs typeface="Arial"/>
                <a:sym typeface="Arial"/>
              </a:rPr>
              <a:t>{{summary_table}}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Story in charts!</a:t>
            </a:r>
            <a:endParaRPr/>
          </a:p>
        </p:txBody>
      </p:sp>
      <p:sp>
        <p:nvSpPr>
          <p:cNvPr id="145" name="Google Shape;145;p26"/>
          <p:cNvSpPr txBox="1"/>
          <p:nvPr/>
        </p:nvSpPr>
        <p:spPr>
          <a:xfrm>
            <a:off x="2562578" y="1636889"/>
            <a:ext cx="1495922"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rgbClr val="000000"/>
                </a:solidFill>
                <a:latin typeface="Arial"/>
                <a:ea typeface="Arial"/>
                <a:cs typeface="Arial"/>
                <a:sym typeface="Arial"/>
              </a:rPr>
              <a:t>{{chart_custom}}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Disclosure and Disclaimers</a:t>
            </a:r>
            <a:endParaRPr/>
          </a:p>
        </p:txBody>
      </p:sp>
      <p:sp>
        <p:nvSpPr>
          <p:cNvPr id="151" name="Google Shape;151;p27"/>
          <p:cNvSpPr txBox="1"/>
          <p:nvPr/>
        </p:nvSpPr>
        <p:spPr>
          <a:xfrm>
            <a:off x="70050" y="635494"/>
            <a:ext cx="9003900" cy="4224300"/>
          </a:xfrm>
          <a:prstGeom prst="rect">
            <a:avLst/>
          </a:prstGeom>
          <a:solidFill>
            <a:schemeClr val="lt1"/>
          </a:solidFill>
          <a:ln>
            <a:noFill/>
          </a:ln>
        </p:spPr>
        <p:txBody>
          <a:bodyPr anchorCtr="0" anchor="ctr" bIns="91425" lIns="91425" spcFirstLastPara="1" rIns="91425" wrap="square" tIns="91425">
            <a:noAutofit/>
          </a:bodyPr>
          <a:lstStyle/>
          <a:p>
            <a:pPr indent="0" lvl="0" marL="200660" marR="1198245" rtl="0" algn="just">
              <a:lnSpc>
                <a:spcPct val="100000"/>
              </a:lnSpc>
              <a:spcBef>
                <a:spcPts val="59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About Us: </a:t>
            </a:r>
            <a:r>
              <a:rPr b="0" i="0" lang="en-GB" sz="1000" u="none" cap="none" strike="noStrike">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b="0" i="0" sz="1000" u="none" cap="none" strike="noStrike">
              <a:solidFill>
                <a:schemeClr val="dk1"/>
              </a:solidFill>
              <a:latin typeface="Calibri"/>
              <a:ea typeface="Calibri"/>
              <a:cs typeface="Calibri"/>
              <a:sym typeface="Calibri"/>
            </a:endParaRPr>
          </a:p>
          <a:p>
            <a:pPr indent="0" lvl="0" marL="200660" marR="30607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Disciplinary history: </a:t>
            </a:r>
            <a:r>
              <a:rPr b="0" i="0" lang="en-GB" sz="1000" u="none" cap="none" strike="noStrike">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Details of its associates: </a:t>
            </a:r>
            <a:r>
              <a:rPr b="0" i="0" lang="en-GB" sz="1000" u="none" cap="none" strike="noStrike">
                <a:solidFill>
                  <a:schemeClr val="dk1"/>
                </a:solidFill>
                <a:latin typeface="Calibri"/>
                <a:ea typeface="Calibri"/>
                <a:cs typeface="Calibri"/>
                <a:sym typeface="Calibri"/>
              </a:rPr>
              <a:t>No associates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Disclosures with respect to Research and Recommendations Services</a:t>
            </a:r>
            <a:endParaRPr b="1" i="0" sz="1000" u="none" cap="none" strike="noStrike">
              <a:solidFill>
                <a:schemeClr val="dk1"/>
              </a:solidFill>
              <a:latin typeface="Calibri"/>
              <a:ea typeface="Calibri"/>
              <a:cs typeface="Calibri"/>
              <a:sym typeface="Calibri"/>
            </a:endParaRPr>
          </a:p>
          <a:p>
            <a:pPr indent="0" lvl="0" marL="200660" marR="343535"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b="0" i="0" sz="1000" u="none" cap="none" strike="noStrike">
              <a:solidFill>
                <a:schemeClr val="dk1"/>
              </a:solidFill>
              <a:latin typeface="Calibri"/>
              <a:ea typeface="Calibri"/>
              <a:cs typeface="Calibri"/>
              <a:sym typeface="Calibri"/>
            </a:endParaRPr>
          </a:p>
          <a:p>
            <a:pPr indent="0" lvl="0" marL="200660" marR="305435" rtl="0" algn="just">
              <a:lnSpc>
                <a:spcPct val="9875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from the company in past 12 months.</a:t>
            </a:r>
            <a:endParaRPr b="0" i="0" sz="1000" u="none" cap="none" strike="noStrike">
              <a:solidFill>
                <a:schemeClr val="dk1"/>
              </a:solidFill>
              <a:latin typeface="Calibri"/>
              <a:ea typeface="Calibri"/>
              <a:cs typeface="Calibri"/>
              <a:sym typeface="Calibri"/>
            </a:endParaRPr>
          </a:p>
          <a:p>
            <a:pPr indent="0" lvl="0" marL="200660" marR="24130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Analysts or its employee or its associates has not served as an officer, director, or employee of the subject company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·Investment in securities market are subject to market risks. Read all the related documents carefully before investing</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pic>
        <p:nvPicPr>
          <p:cNvPr descr="A picture containing text, whiteboard&#10;&#10;Description automatically generated" id="152" name="Google Shape;152;p27"/>
          <p:cNvPicPr preferRelativeResize="0"/>
          <p:nvPr/>
        </p:nvPicPr>
        <p:blipFill rotWithShape="1">
          <a:blip r:embed="rId4">
            <a:alphaModFix/>
          </a:blip>
          <a:srcRect b="0" l="0" r="0" t="0"/>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